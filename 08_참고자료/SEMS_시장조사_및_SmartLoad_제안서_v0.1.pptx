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2240"/>
                </a:solidFill>
                <a:latin typeface="맑은 고딕"/>
              </a:rPr>
              <a:t>SEMS 시장조사 및 Smart Load 제안</a:t>
            </a:r>
          </a:p>
          <a:p>
            <a:r>
              <a:rPr sz="1800">
                <a:solidFill>
                  <a:srgbClr val="2258A0"/>
                </a:solidFill>
                <a:latin typeface="맑은 고딕"/>
              </a:rPr>
              <a:t>Smart Load(기존 지선차단기) 기반 사업/기술/일정 통합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9893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060"/>
                </a:solidFill>
                <a:latin typeface="맑은 고딕"/>
              </a:rPr>
              <a:t>기준일 2026-04-10 | 내부 공유용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0" y="5074920"/>
            <a:ext cx="2011680" cy="548640"/>
          </a:xfrm>
          <a:prstGeom prst="roundRect">
            <a:avLst/>
          </a:prstGeom>
          <a:solidFill>
            <a:srgbClr val="DDEBF7"/>
          </a:solidFill>
          <a:ln>
            <a:solidFill>
              <a:srgbClr val="225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58A0"/>
                </a:solidFill>
                <a:latin typeface="맑은 고딕"/>
              </a:rPr>
              <a:t>Draft v0.1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2026-04-10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92929"/>
                </a:solidFill>
                <a:latin typeface="맑은 고딕"/>
              </a:rPr>
              <a:t>SEMS는 단순 계측기가 아니라 계측·보호·분석·절감 운영이 결합된 시스템으로 봐야 합니다.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Smart Load는 SEMS 말단에서 데이터 생성과 현장 차단을 동시에 수행하는 실행형 현장단말입니다.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1차 범위는 단상·직접계측·과전류/과전압·RS-485/DCU 연동에 집중하고, 고급 보호 기능은 2차 확장으로 분리합니다.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383280" cy="4389120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12240"/>
                </a:solidFill>
                <a:latin typeface="맑은 고딕"/>
              </a:rPr>
              <a:t>핵심 메시지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제품 단품보다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SEMS 구축용 현장단말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+ 연동 패키지로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SEMS 구조에서 Smart Load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구조 설명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MS_전체전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852160" cy="33187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406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060"/>
                </a:solidFill>
                <a:latin typeface="맑은 고딕"/>
              </a:rPr>
              <a:t>참고 이미지: 기존 내부 자료 `SEMS_전체전리.png`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92929"/>
                </a:solidFill>
                <a:latin typeface="맑은 고딕"/>
              </a:rPr>
              <a:t>전체 구조는 MQTT 서버 - 3상 점검장치 - PLC - DCU - Smart Load 방향으로 정리되어 있습니다.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92929"/>
                </a:solidFill>
                <a:latin typeface="맑은 고딕"/>
              </a:rPr>
              <a:t>각 Smart Load는 자기 데이터를 직접 계측하고, 자체 판단으로 차단을 수행한 뒤 DCU에 전달합니다.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92929"/>
                </a:solidFill>
                <a:latin typeface="맑은 고딕"/>
              </a:rPr>
              <a:t>즉 Smart Load는 SEMS의 말단 센서가 아니라 실행 기능이 있는 현장단말입니다.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Smart Load 제품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구조 설명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지선차단기_기능정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852160" cy="35426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406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060"/>
                </a:solidFill>
                <a:latin typeface="맑은 고딕"/>
              </a:rPr>
              <a:t>참고 이미지: 기존 내부 자료 `지선차단기_기능정리.png`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92929"/>
                </a:solidFill>
                <a:latin typeface="맑은 고딕"/>
              </a:rPr>
              <a:t>핵심 기능은 분기회로 계측, 자체 판단, 차단, 상태/이벤트 전송입니다.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92929"/>
                </a:solidFill>
                <a:latin typeface="맑은 고딕"/>
              </a:rPr>
              <a:t>대외 명칭은 지선차단기보다 Smart Load를 우선 사용하는 것이 맞습니다.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92929"/>
                </a:solidFill>
                <a:latin typeface="맑은 고딕"/>
              </a:rPr>
              <a:t>제품 설명은 단품 차단기보다 현장 데이터 인프라의 한 축으로 잡는 것이 유리합니다.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시장 및 경쟁 제품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시장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828800" cy="658368"/>
          </a:xfrm>
          <a:prstGeom prst="rect">
            <a:avLst/>
          </a:prstGeom>
          <a:solidFill>
            <a:srgbClr val="1122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325880"/>
            <a:ext cx="2926080" cy="658368"/>
          </a:xfrm>
          <a:prstGeom prst="rect">
            <a:avLst/>
          </a:prstGeom>
          <a:solidFill>
            <a:srgbClr val="1122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대표 제품/근거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5349240" y="1325880"/>
            <a:ext cx="6217920" cy="658368"/>
          </a:xfrm>
          <a:prstGeom prst="rect">
            <a:avLst/>
          </a:prstGeom>
          <a:solidFill>
            <a:srgbClr val="1122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시장 시사점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84248"/>
            <a:ext cx="182880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국내 수요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984248"/>
            <a:ext cx="292608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한국에너지공단 EMS 보급 지원사업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984248"/>
            <a:ext cx="621792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계측·제어 인프라와 모니터링 시스템을 함께 제안해야 실제 사업화가 쉬움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42616"/>
            <a:ext cx="182880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Schneider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2642616"/>
            <a:ext cx="292608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PowerTag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2642616"/>
            <a:ext cx="621792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분기회로별 가시성과 최종 부하 단위 데이터 확보가 중요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00984"/>
            <a:ext cx="182880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Siemens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300984"/>
            <a:ext cx="292608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Sentron Powermind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3300984"/>
            <a:ext cx="621792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측정에서 상태감시·예지보전으로 확장 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59352"/>
            <a:ext cx="182880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Eaton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959352"/>
            <a:ext cx="292608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Power Xpert BCM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3959352"/>
            <a:ext cx="621792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과부하 경보, 다운타임 감소, 운영 안정성까지 함께 판매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617720"/>
            <a:ext cx="182880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Leviton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4617720"/>
            <a:ext cx="292608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VerifEye 7000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4617720"/>
            <a:ext cx="621792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기존 분전반에 붙는 레트로핏과 다양한 프로토콜 지원이 경쟁력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060"/>
                </a:solidFill>
                <a:latin typeface="맑은 고딕"/>
              </a:rPr>
              <a:t>출처: 한국에너지공단, Schneider Electric, Siemens, Eaton, Leviton 공식 자료 기반 요약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우리 제품의 특화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2026-04-10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92929"/>
                </a:solidFill>
                <a:latin typeface="맑은 고딕"/>
              </a:rPr>
              <a:t>측정 + 자체 판단 + 차단을 하나의 장치에서 수행합니다.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기존 MQTT/PLC/DCU 구조에 붙기 쉬운 현장 맞춤형 단말입니다.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복구정책, 전송주기, 이벤트 정책, 차단 임계치 등 현장별 커스터마이징이 쉽습니다.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1차/2차/3차 확장 로드맵이 분명해 과도한 약속 없이 단계적으로 진입할 수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383280" cy="4389120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12240"/>
                </a:solidFill>
                <a:latin typeface="맑은 고딕"/>
              </a:rPr>
              <a:t>추천 포지션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국내 현장 맞춤형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Smart Load 단말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+ SEMS 연동 패키지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개발 범위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내부 정리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12080" cy="502920"/>
          </a:xfrm>
          <a:prstGeom prst="round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1차 범위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단상 Smart Load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전압, 전류, 주파수, 유효전력, 전력량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과전류/과전압 차단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RS-485 기반 DCU 연동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상태/이벤트/누적값 전송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502920"/>
          </a:xfrm>
          <a:prstGeom prst="roundRect">
            <a:avLst/>
          </a:prstGeom>
          <a:solidFill>
            <a:srgbClr val="13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2차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74519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피상전력/역률/무효전력 고도화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이력 기반 경보와 패턴 추적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복구 정책 세분화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ZCT 기반 누설전류 확장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92929"/>
                </a:solidFill>
                <a:latin typeface="맑은 고딕"/>
              </a:rPr>
              <a:t>고조파/아크/상태진단 검토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제안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2026-04-10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92929"/>
                </a:solidFill>
                <a:latin typeface="맑은 고딕"/>
              </a:rPr>
              <a:t>영업 포지션은 차단기 1개 판매보다 현장 데이터 인프라 구축과 절감 운영 기반 제공에 맞춰야 합니다.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1차 판매 타겟은 기존 분전반 데이터 가시성과 보호 기능이 동시에 필요한 중소 현장에 적합합니다.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6월 목표는 양산 완료가 아니라 데모 가능한 시제품과 대외 제안 패키지 확보로 재정의하는 것이 현실적입니다.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383280" cy="4389120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12240"/>
                </a:solidFill>
                <a:latin typeface="맑은 고딕"/>
              </a:rPr>
              <a:t>대외 메시지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Smart Load는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SEMS 말단 실행형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현장단말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WBS 및 마일스톤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2026-04-10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417320" cy="347472"/>
          </a:xfrm>
          <a:prstGeom prst="round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4/10-4/16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32588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SEMS 정의 및 범위 확정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417320" cy="347472"/>
          </a:xfrm>
          <a:prstGeom prst="roundRect">
            <a:avLst/>
          </a:prstGeom>
          <a:solidFill>
            <a:srgbClr val="13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4/10-4/18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82880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시장조사 및 타겟 정리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1417320" cy="347472"/>
          </a:xfrm>
          <a:prstGeom prst="roundRect">
            <a:avLst/>
          </a:prstGeom>
          <a:solidFill>
            <a:srgbClr val="2F7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4/11-4/22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33172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기능 및 인터페이스 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34640"/>
            <a:ext cx="1417320" cy="347472"/>
          </a:xfrm>
          <a:prstGeom prst="round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4/15-4/29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83464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HW 회로/핀/전원 구조 확정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37560"/>
            <a:ext cx="1417320" cy="347472"/>
          </a:xfrm>
          <a:prstGeom prst="round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4/18-5/13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333756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FW 드라이버/보호/복구 구현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40480"/>
            <a:ext cx="1417320" cy="347472"/>
          </a:xfrm>
          <a:prstGeom prst="roundRect">
            <a:avLst/>
          </a:prstGeom>
          <a:solidFill>
            <a:srgbClr val="137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5/06-5/20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384048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데모 시제품 구성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1417320" cy="347472"/>
          </a:xfrm>
          <a:prstGeom prst="roundRect">
            <a:avLst/>
          </a:prstGeom>
          <a:solidFill>
            <a:srgbClr val="2F7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5/16-6/05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434340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시험 및 보정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46320"/>
            <a:ext cx="1417320" cy="347472"/>
          </a:xfrm>
          <a:prstGeom prst="roundRect">
            <a:avLst/>
          </a:prstGeom>
          <a:solidFill>
            <a:srgbClr val="CC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5/20-6/10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484632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제안서/영업 패키지 완성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349240"/>
            <a:ext cx="1417320" cy="347472"/>
          </a:xfrm>
          <a:prstGeom prst="roundRect">
            <a:avLst/>
          </a:prstGeom>
          <a:solidFill>
            <a:srgbClr val="AA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6/01-6/30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5349240"/>
            <a:ext cx="7132320" cy="347472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92929"/>
                </a:solidFill>
                <a:latin typeface="맑은 고딕"/>
              </a:rPr>
              <a:t>현장 PoC 준비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417320"/>
            <a:ext cx="1737360" cy="4251960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12240"/>
                </a:solidFill>
                <a:latin typeface="맑은 고딕"/>
              </a:rPr>
              <a:t>핵심 기준</a:t>
            </a: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292929"/>
                </a:solidFill>
                <a:latin typeface="맑은 고딕"/>
              </a:rPr>
              <a:t>6월 목표는 양산 완료가 아니라</a:t>
            </a: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292929"/>
                </a:solidFill>
                <a:latin typeface="맑은 고딕"/>
              </a:rPr>
              <a:t>데모 가능한 시제품 + 제안 패키지 확보로 재정의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업무분장 및 운영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업무분장 초안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645920" cy="658368"/>
          </a:xfrm>
          <a:prstGeom prst="rect">
            <a:avLst/>
          </a:prstGeom>
          <a:solidFill>
            <a:srgbClr val="1122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2240280" y="1325880"/>
            <a:ext cx="6583680" cy="658368"/>
          </a:xfrm>
          <a:prstGeom prst="rect">
            <a:avLst/>
          </a:prstGeom>
          <a:solidFill>
            <a:srgbClr val="1122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주요 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0" y="1325880"/>
            <a:ext cx="2743200" cy="658368"/>
          </a:xfrm>
          <a:prstGeom prst="rect">
            <a:avLst/>
          </a:prstGeom>
          <a:solidFill>
            <a:srgbClr val="1122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현재 읽히는 담당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84248"/>
            <a:ext cx="164592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PM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984248"/>
            <a:ext cx="658368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범위 확정, 일정관리, 이슈관리, 대외 조율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984248"/>
            <a:ext cx="274320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김덕회 팀장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42616"/>
            <a:ext cx="164592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상위 서버/플랫폼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2642616"/>
            <a:ext cx="658368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플랫폼 구조, 데이터 활용 방향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2642616"/>
            <a:ext cx="274320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조중협 이사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00984"/>
            <a:ext cx="164592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3상 점검장치/연계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3300984"/>
            <a:ext cx="658368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연계 구조, 게이트웨이 영역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3300984"/>
            <a:ext cx="274320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WESYNC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59352"/>
            <a:ext cx="164592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Smart 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959352"/>
            <a:ext cx="658368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계측, 차단, 통신, 현장단말 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3959352"/>
            <a:ext cx="2743200" cy="776874"/>
          </a:xfrm>
          <a:prstGeom prst="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임세훈 주임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617720"/>
            <a:ext cx="164592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HW/FW 공통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4617720"/>
            <a:ext cx="658368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회로, 드라이버, 보호/복구, 시험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4617720"/>
            <a:ext cx="2743200" cy="776874"/>
          </a:xfrm>
          <a:prstGeom prst="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50">
                <a:solidFill>
                  <a:srgbClr val="292929"/>
                </a:solidFill>
                <a:latin typeface="맑은 고딕"/>
              </a:rPr>
              <a:t>세부 재확인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06060"/>
                </a:solidFill>
                <a:latin typeface="맑은 고딕"/>
              </a:rPr>
              <a:t>출처: 한국에너지공단, Schneider Electric, Siemens, Eaton, Leviton 공식 자료 기반 요약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12240"/>
                </a:solidFill>
                <a:latin typeface="맑은 고딕"/>
              </a:rPr>
              <a:t>문서 버전관리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8200" y="38404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>
                <a:solidFill>
                  <a:srgbClr val="606060"/>
                </a:solidFill>
                <a:latin typeface="맑은 고딕"/>
              </a:rPr>
              <a:t>2026-04-10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6576"/>
          </a:xfrm>
          <a:prstGeom prst="rect">
            <a:avLst/>
          </a:prstGeom>
          <a:solidFill>
            <a:srgbClr val="225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76656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92929"/>
                </a:solidFill>
                <a:latin typeface="맑은 고딕"/>
              </a:rPr>
              <a:t>공유 기준 문서는 텍스트 원본과 발표용 PPT를 분리해 관리합니다.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텍스트 기준 문서에서 내용 확정 후 PPT는 파생 산출물로 갱신합니다.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92929"/>
                </a:solidFill>
                <a:latin typeface="맑은 고딕"/>
              </a:rPr>
              <a:t>버전은 v0.x 초안, v1.x 내부 확정, v2.x 대외 활용본으로 나눠 운영합니다.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17320"/>
            <a:ext cx="3383280" cy="4389120"/>
          </a:xfrm>
          <a:prstGeom prst="roundRect">
            <a:avLst/>
          </a:prstGeom>
          <a:solidFill>
            <a:srgbClr val="DDEBF7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12240"/>
                </a:solidFill>
                <a:latin typeface="맑은 고딕"/>
              </a:rPr>
              <a:t>이번 산출물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텍스트 기준 문서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PPT 제안서 초안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92929"/>
                </a:solidFill>
                <a:latin typeface="맑은 고딕"/>
              </a:rPr>
              <a:t>로컬 Git 커밋 완료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00584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맑은 고딕"/>
              </a:rPr>
              <a:t>결론 및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FFFFFF"/>
                </a:solidFill>
                <a:latin typeface="맑은 고딕"/>
              </a:rPr>
              <a:t>Smart Load는 단순 차단기가 아니라 SEMS의 말단 실행형 데이터 장치로 포지셔닝해야 한다.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FFFFF"/>
                </a:solidFill>
                <a:latin typeface="맑은 고딕"/>
              </a:rPr>
              <a:t>1차는 단상·직접계측·자체판단·차단·DCU연동에 집중하고, 고급 보호 기능은 2차 확장으로 분리한다.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FFFFFF"/>
                </a:solidFill>
                <a:latin typeface="맑은 고딕"/>
              </a:rPr>
              <a:t>시장 접근은 제품 단품 판매보다 현장 맞춤형 SEMS 구축 패키지 제안이 유리하다.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0644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DCE6F5"/>
                </a:solidFill>
                <a:latin typeface="맑은 고딕"/>
              </a:rPr>
              <a:t>Next step: 판매 타겟 확정 / WESYNC 데이터 항목 확정 / 1차 시제품 범위 승인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