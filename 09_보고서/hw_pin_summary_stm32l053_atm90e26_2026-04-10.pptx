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HW팀 전달용 선정칩 기준 핀 기능 정리</a:t>
            </a:r>
          </a:p>
          <a:p>
            <a:pPr>
              <a:defRPr sz="1000">
                <a:solidFill>
                  <a:srgbClr val="626262"/>
                </a:solidFill>
              </a:defRPr>
            </a:pPr>
            <a:r>
              <a:t>STM32L053R8T6 + ATM90E26-YU / 2026-04-10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097280"/>
                <a:gridCol w="7315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선정부품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패키지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MCU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STM32L053R8T6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LQFP64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현재 기준 MCU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계량칩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ATM90E26-YU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SSOP-28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현재 기준 계량칩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97180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5760720"/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기능 구분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구현 주체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전압, 전류, 전력, 전력량, 주파수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ATM90E26-YU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계량칩 직접 계측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RS-485 통신, 프로토콜, 이벤트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STM32L053R8T6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DCU 통신 처리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과전류/과전압 판단, 릴레이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STM32L053R8T6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ATM90 측정값 기반 MCU 판단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로그, 상태 관리, 서버 이벤트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STM32L053R8T6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323"/>
                          </a:solidFill>
                        </a:rPr>
                        <a:t>펌웨어 처리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0" y="137160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77E3B"/>
                </a:solidFill>
              </a:rPr>
              <a:t>핀 분류 기준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필수: 1차 제품에서 반드시 회로 반영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권장: 가능하면 반영하면 좋은 핀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확장: 2차 기능 또는 생산/디버그용 여유 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MCU 필수 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156716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1828800"/>
                <a:gridCol w="2926080"/>
                <a:gridCol w="4160520"/>
              </a:tblGrid>
              <a:tr h="3886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MCU 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연결 대상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VDD, VSS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MCU 전원 / GND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전원부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기본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시스템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NRST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하드웨어 리셋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SWD / Reset 회로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디버그 및 복구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SWDIO, SWCLK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SWD 디버그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디버거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초기 개발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클럭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OSC_IN, OSC_OUT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외부 크리스탈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클럭 회로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정확도 요구 기준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계량칩 SPI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SPI1_SCK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계량칩 SPI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SPI1_MISO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SDO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계량칩 SPI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SPI1_MOSI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SDI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계량칩 GPIO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PB6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CS 제어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계량칩 GPIO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Reset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ATM90 Reset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USART2_TX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 Transceiver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DCU 송신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USART2_RX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 Transceiver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DCU 수신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PA1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DE/RE 제어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RS-485 Transceiver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방향 제어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릴레이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릴레이 구동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Relay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ON/OFF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MCU 권장 핀 및 확장 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920240"/>
                <a:gridCol w="2011680"/>
                <a:gridCol w="4389120"/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MCU 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연결 대상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릴레이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릴레이 피드백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Relay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실제 동작 확인용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서비스 UART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USART1_TX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서비스 포트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로그 / 공정 / 점검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서비스 UART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USART1_RX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서비스 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로그 / 공정 /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상태 표시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PC8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RUN 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LED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제품 상태 표시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상태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PC9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FAULT 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Fault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749039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920240"/>
                <a:gridCol w="2011680"/>
                <a:gridCol w="4389120"/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MCU 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연결 대상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IRQ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외부 인터럽트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IRQ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이벤트 기반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WarnOut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경고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WarnOut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sag / checksum 이상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ZX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영점 통과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ZX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릴레이 제어 고도화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CF1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에너지 펄스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CF1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생산 보정 / 검증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CF2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에너지 펄스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CF2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생산 보정 /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전원 / 계측 입력 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116586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22960"/>
                <a:gridCol w="2011680"/>
                <a:gridCol w="2103120"/>
                <a:gridCol w="914400"/>
                <a:gridCol w="4892040"/>
              </a:tblGrid>
              <a:tr h="4185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현재 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DVDD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디지털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전원 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DGND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디지털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아날로그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전원 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6, 14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아날로그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Vref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기준 전압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데이터시트 권장 회로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Reset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칩 리셋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MCU GPIO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PB7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I1P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L line 전류 +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주 전류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I1N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L line 전류 -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주 전류 채널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전압 +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전압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VN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전압 -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전압 측정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185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I2P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N line 전류 +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미정 / 열어둠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확장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52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I2N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N line 전류 -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미정 / 열어둠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32323"/>
                          </a:solidFill>
                        </a:rPr>
                        <a:t>확장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통신 / 설정 / 보조 출력 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97280"/>
          <a:ext cx="11795760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2011680"/>
                <a:gridCol w="2011680"/>
                <a:gridCol w="822960"/>
                <a:gridCol w="5212080"/>
              </a:tblGrid>
              <a:tr h="35147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현재 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UART/SPI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고정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현재는 SPI 사용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SPI 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PB6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PA5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SDO/UTX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SPI MISO / UART 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PA6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SDI/URX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SPI MOSI / UART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MCU PA7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MMD1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metering mode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고정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하드웨어 strap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MMD0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metering mode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고정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하드웨어 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WarnOut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경고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가능하면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sag / 오류 감시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CF1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에너지 펄스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가능하면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생산 보정 /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CF2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에너지 펄스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가능하면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생산 보정 / 검증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IRQ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인터럽트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가능하면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이벤트 기반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ZX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영점 통과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가능하면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릴레이 제어 최적화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OSCI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크리스탈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데이터시트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47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OSCO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크리스탈 출력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데이터시트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5148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Resv_Low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Reserved, GND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32323"/>
                          </a:solidFill>
                        </a:rPr>
                        <a:t>데이터시트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MCU ↔ ATM90 연결 요약 및 HW 반영 요청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6400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97280"/>
                <a:gridCol w="1828800"/>
                <a:gridCol w="1463040"/>
              </a:tblGrid>
              <a:tr h="43226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구간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MCU 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ATM90 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우선순위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SCLK(25)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SPI MISO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SDO(26)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ATM90 -&gt; MCU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SPI MOSI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PA7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SDI(27)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MCU -&gt; ATM90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SPI 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CS(24)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Reset(4)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칩 리셋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IRQ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IRQ(20)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이벤트 인터럽트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WarnOut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WarnOut(17)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경고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ZX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ZX(21)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영점 통과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CF1(18)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에너지 펄스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CF2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PB14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CF2(19)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에너지 펄스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323"/>
                          </a:solidFill>
                        </a:rPr>
                        <a:t>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40880" y="123444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C77E3B"/>
                </a:solidFill>
              </a:rPr>
              <a:t>HW팀 반드시 반영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MCU 기본: 전원, GND, NRST, SWDIO, SWCLK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MCU 통신: USART2 TX/RX + DE/RE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MCU 제어: 릴레이 구동 GPIO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MCU ↔ ATM90: SPI1 + CS + Reset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ATM90 기본: 전원, GND, Vref, OSCI/OSCO, I1P/I1N, VP/VN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ATM90 설정: USEL, MMD1, MMD0, Reserved 핀 데이터시트 준수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3749039"/>
            <a:ext cx="4572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44787A"/>
                </a:solidFill>
              </a:rPr>
              <a:t>가능하면 반영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릴레이 피드백 입력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서비스 UART (USART1)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상태 LED 2개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ATM90 보조핀: IRQ, WarnOut, ZX, CF1, CF2</a:t>
            </a:r>
          </a:p>
          <a:p>
            <a:pPr>
              <a:defRPr sz="1000">
                <a:solidFill>
                  <a:srgbClr val="232323"/>
                </a:solidFill>
              </a:defRPr>
            </a:pPr>
            <a:r>
              <a:t>I2P / I2N 확장 여지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