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C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14C"/>
                </a:solidFill>
                <a:latin typeface="Malgun Gothic"/>
              </a:rPr>
              <a:t>STM32L053R8T6 핀 순서 정리</a:t>
            </a:r>
          </a:p>
          <a:p>
            <a:pPr>
              <a:defRPr sz="1000">
                <a:solidFill>
                  <a:srgbClr val="5F5F5F"/>
                </a:solidFill>
                <a:latin typeface="Malgun Gothic"/>
              </a:defRPr>
            </a:pPr>
            <a:r>
              <a:t>LQFP64 / 필수 핀 기능만 빨간색 / 비필수는 검정색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371600"/>
            <a:ext cx="45720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91840" y="1554480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0" y="1499616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499616"/>
            <a:ext cx="1051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VLCD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49047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1E1E1E"/>
                </a:solidFill>
                <a:latin typeface="Malgun Gothic"/>
              </a:rPr>
              <a:t>LCD 전원 출력 (2차이후)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801368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746504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746504"/>
            <a:ext cx="1051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PC13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173736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1E1E1E"/>
                </a:solidFill>
                <a:latin typeface="Malgun Gothic"/>
              </a:rPr>
              <a:t>GPIO / RTC / Wakeup (2차이후)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048256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1993392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1993392"/>
            <a:ext cx="1051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PC14-OSC32_IN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" y="198424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1E1E1E"/>
                </a:solidFill>
                <a:latin typeface="Malgun Gothic"/>
              </a:rPr>
              <a:t>LSE 크리스탈 입력 (2차이후)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295144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2240279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240279"/>
            <a:ext cx="1051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PC15-OSC32_OUT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" y="2231136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1E1E1E"/>
                </a:solidFill>
                <a:latin typeface="Malgun Gothic"/>
              </a:rPr>
              <a:t>LSE 크리스탈 출력 (2차이후)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2542032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2487168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2487168"/>
            <a:ext cx="1051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PH0-OSC_IN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" y="2478024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1E1E1E"/>
                </a:solidFill>
                <a:latin typeface="Malgun Gothic"/>
              </a:rPr>
              <a:t>HSE 크리스탈 입력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2788920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2734056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734056"/>
            <a:ext cx="1051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PH1-OSC_OUT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72491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1E1E1E"/>
                </a:solidFill>
                <a:latin typeface="Malgun Gothic"/>
              </a:rPr>
              <a:t>HSE 크리스탈 출력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3035808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0" y="2980944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980944"/>
            <a:ext cx="1051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NRST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97180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C02828"/>
                </a:solidFill>
                <a:latin typeface="Malgun Gothic"/>
              </a:rPr>
              <a:t>MCU 리셋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3282696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0" y="3227832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227832"/>
            <a:ext cx="1051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PC0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" y="321868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1E1E1E"/>
                </a:solidFill>
                <a:latin typeface="Malgun Gothic"/>
              </a:rPr>
              <a:t>GPIO (2차이후)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3529584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17520" y="3474720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474720"/>
            <a:ext cx="1051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PC1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" y="3465576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1E1E1E"/>
                </a:solidFill>
                <a:latin typeface="Malgun Gothic"/>
              </a:rPr>
              <a:t>GPIO (2차이후)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3776472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3721608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3721608"/>
            <a:ext cx="1051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PC2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" y="3712463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1E1E1E"/>
                </a:solidFill>
                <a:latin typeface="Malgun Gothic"/>
              </a:rPr>
              <a:t>GPIO (2차이후)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91840" y="4023360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17520" y="3968496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40" y="3968496"/>
            <a:ext cx="1051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PC3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2880" y="395935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1E1E1E"/>
                </a:solidFill>
                <a:latin typeface="Malgun Gothic"/>
              </a:rPr>
              <a:t>GPIO (2차이후)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91840" y="4270248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17520" y="4215384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20240" y="4215384"/>
            <a:ext cx="1051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VSSA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2880" y="420624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C02828"/>
                </a:solidFill>
                <a:latin typeface="Malgun Gothic"/>
              </a:rPr>
              <a:t>아날로그 GND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91840" y="4517136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17520" y="4462272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20240" y="4462272"/>
            <a:ext cx="1051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VDDA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2880" y="445312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C02828"/>
                </a:solidFill>
                <a:latin typeface="Malgun Gothic"/>
              </a:rPr>
              <a:t>아날로그 전원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91840" y="4764024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17520" y="4709160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20240" y="4709160"/>
            <a:ext cx="1051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PA0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" y="4700016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1E1E1E"/>
                </a:solidFill>
                <a:latin typeface="Malgun Gothic"/>
              </a:rPr>
              <a:t>GPIO / ADC (2차이후)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91840" y="5010912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17520" y="4956048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15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20240" y="4956048"/>
            <a:ext cx="1051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PA1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2880" y="4946904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C02828"/>
                </a:solidFill>
                <a:latin typeface="Malgun Gothic"/>
              </a:rPr>
              <a:t>RS-485 DE/RE 제어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91840" y="5257800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017520" y="5202936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16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20240" y="5202936"/>
            <a:ext cx="1051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PA2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2880" y="519379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C02828"/>
                </a:solidFill>
                <a:latin typeface="Malgun Gothic"/>
              </a:rPr>
              <a:t>USART2_TX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0" y="5797296"/>
            <a:ext cx="457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76472" y="6089904"/>
            <a:ext cx="2011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17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05656" y="5797296"/>
            <a:ext cx="457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41648" y="6089904"/>
            <a:ext cx="2011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18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70832" y="5797296"/>
            <a:ext cx="457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06824" y="6089904"/>
            <a:ext cx="2011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19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36008" y="5797296"/>
            <a:ext cx="457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00" y="6089904"/>
            <a:ext cx="2011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20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901184" y="5797296"/>
            <a:ext cx="457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837176" y="6089904"/>
            <a:ext cx="2011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21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166360" y="5797296"/>
            <a:ext cx="457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02352" y="6089904"/>
            <a:ext cx="2011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22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31536" y="5797296"/>
            <a:ext cx="457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367527" y="6089904"/>
            <a:ext cx="2011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23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96712" y="5797296"/>
            <a:ext cx="457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632704" y="6089904"/>
            <a:ext cx="2011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24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961888" y="5797296"/>
            <a:ext cx="457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897879" y="6089904"/>
            <a:ext cx="2011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25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227064" y="5797296"/>
            <a:ext cx="457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163056" y="6089904"/>
            <a:ext cx="2011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26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92240" y="5797296"/>
            <a:ext cx="457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28231" y="6089904"/>
            <a:ext cx="2011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27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757416" y="5797296"/>
            <a:ext cx="457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693408" y="6089904"/>
            <a:ext cx="2011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28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022592" y="5797296"/>
            <a:ext cx="457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958583" y="6089904"/>
            <a:ext cx="2011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29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287768" y="5797296"/>
            <a:ext cx="457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223759" y="6089904"/>
            <a:ext cx="2011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30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552944" y="5797296"/>
            <a:ext cx="457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488936" y="6089904"/>
            <a:ext cx="2011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31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818120" y="5797296"/>
            <a:ext cx="45720" cy="256032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754112" y="6089904"/>
            <a:ext cx="2011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32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275320" y="5257800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641080" y="5202936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33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887968" y="5202936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PB12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829800" y="5193792"/>
            <a:ext cx="2148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1E1E1E"/>
                </a:solidFill>
                <a:latin typeface="Malgun Gothic"/>
              </a:rPr>
              <a:t>ATM90 ZX 입력 (2차이후)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275320" y="5010912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641080" y="4956048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34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87968" y="4956048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PB13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829800" y="4946904"/>
            <a:ext cx="2148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1E1E1E"/>
                </a:solidFill>
                <a:latin typeface="Malgun Gothic"/>
              </a:rPr>
              <a:t>ATM90 CF1 입력 (2차이후)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275320" y="4764024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641080" y="4709160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35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887968" y="4709160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PB14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829800" y="4700016"/>
            <a:ext cx="2148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1E1E1E"/>
                </a:solidFill>
                <a:latin typeface="Malgun Gothic"/>
              </a:rPr>
              <a:t>ATM90 CF2 입력 (2차이후)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275320" y="4517136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641080" y="4462272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36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87968" y="44622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PB15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829800" y="4453128"/>
            <a:ext cx="2148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1E1E1E"/>
                </a:solidFill>
                <a:latin typeface="Malgun Gothic"/>
              </a:rPr>
              <a:t>GPIO (2차이후)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275320" y="4270248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641080" y="4215384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37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887968" y="4215384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PC6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829800" y="4206240"/>
            <a:ext cx="2148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1E1E1E"/>
                </a:solidFill>
                <a:latin typeface="Malgun Gothic"/>
              </a:rPr>
              <a:t>GPIO (2차이후)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275320" y="4023360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641080" y="3968496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38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887968" y="3968496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PC7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829800" y="3959352"/>
            <a:ext cx="2148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1E1E1E"/>
                </a:solidFill>
                <a:latin typeface="Malgun Gothic"/>
              </a:rPr>
              <a:t>GPIO (2차이후)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275320" y="3776472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641080" y="3721608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39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887968" y="3721608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PC8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829800" y="3712463"/>
            <a:ext cx="2148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1E1E1E"/>
                </a:solidFill>
                <a:latin typeface="Malgun Gothic"/>
              </a:rPr>
              <a:t>RUN LED (2차이후)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275320" y="3529584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641080" y="3474720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40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887968" y="3474720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PC9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829800" y="3465576"/>
            <a:ext cx="2148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1E1E1E"/>
                </a:solidFill>
                <a:latin typeface="Malgun Gothic"/>
              </a:rPr>
              <a:t>FAULT LED (2차이후)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275320" y="3282696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641080" y="3227832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41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887968" y="322783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PA8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829800" y="3218688"/>
            <a:ext cx="2148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1E1E1E"/>
                </a:solidFill>
                <a:latin typeface="Malgun Gothic"/>
              </a:rPr>
              <a:t>GPIO (2차이후)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275320" y="3035808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641080" y="2980944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42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887968" y="2980944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PA9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829800" y="2971800"/>
            <a:ext cx="2148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1E1E1E"/>
                </a:solidFill>
                <a:latin typeface="Malgun Gothic"/>
              </a:rPr>
              <a:t>USART1_TX (2차이후)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275320" y="2788920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641080" y="2734056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43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887968" y="2734056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PA10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829800" y="2724912"/>
            <a:ext cx="2148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1E1E1E"/>
                </a:solidFill>
                <a:latin typeface="Malgun Gothic"/>
              </a:rPr>
              <a:t>USART1_RX (2차이후)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275320" y="2542032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641080" y="2487168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44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887968" y="2487168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PA11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829800" y="2478024"/>
            <a:ext cx="2148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1E1E1E"/>
                </a:solidFill>
                <a:latin typeface="Malgun Gothic"/>
              </a:rPr>
              <a:t>USB DM (2차이후)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275320" y="2295144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641080" y="2240279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45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887968" y="2240279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PA12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829800" y="2231136"/>
            <a:ext cx="2148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1E1E1E"/>
                </a:solidFill>
                <a:latin typeface="Malgun Gothic"/>
              </a:rPr>
              <a:t>USB DP (2차이후)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275320" y="2048256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641080" y="1993392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46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887968" y="199339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PA13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829800" y="1984248"/>
            <a:ext cx="2148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C02828"/>
                </a:solidFill>
                <a:latin typeface="Malgun Gothic"/>
              </a:rPr>
              <a:t>SWDIO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275320" y="1801368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641080" y="1746504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47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887968" y="1746504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VDD_USB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829800" y="1737360"/>
            <a:ext cx="2148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1E1E1E"/>
                </a:solidFill>
                <a:latin typeface="Malgun Gothic"/>
              </a:rPr>
              <a:t>USB 전원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275320" y="1554480"/>
            <a:ext cx="320040" cy="4572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641080" y="1499616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48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887968" y="1499616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VSS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829800" y="1490472"/>
            <a:ext cx="2148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C02828"/>
                </a:solidFill>
                <a:latin typeface="Malgun Gothic"/>
              </a:rPr>
              <a:t>GND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001000" y="1033271"/>
            <a:ext cx="228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49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735824" y="1033271"/>
            <a:ext cx="228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50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470648" y="1033271"/>
            <a:ext cx="228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51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205472" y="1033271"/>
            <a:ext cx="228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52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940296" y="1033271"/>
            <a:ext cx="228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53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75120" y="1033271"/>
            <a:ext cx="228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54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409944" y="1033271"/>
            <a:ext cx="228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55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144768" y="1033271"/>
            <a:ext cx="228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56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879592" y="1033271"/>
            <a:ext cx="228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57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614416" y="1033271"/>
            <a:ext cx="228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58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349240" y="1033271"/>
            <a:ext cx="228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59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084064" y="1033271"/>
            <a:ext cx="228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60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818888" y="1033271"/>
            <a:ext cx="228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61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553712" y="1033271"/>
            <a:ext cx="228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62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288536" y="1033271"/>
            <a:ext cx="228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63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023360" y="1033271"/>
            <a:ext cx="228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1E1E1E"/>
                </a:solidFill>
                <a:latin typeface="Malgun Gothic"/>
              </a:rPr>
              <a:t>64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2926080" y="6144768"/>
            <a:ext cx="502920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447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E1E1E"/>
                </a:solidFill>
                <a:latin typeface="Malgun Gothic"/>
              </a:rPr>
              <a:t>빨간색: 필수 핀 / 검정색: 비필수, 미정, 2차이후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C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14C"/>
                </a:solidFill>
                <a:latin typeface="Malgun Gothic"/>
              </a:rPr>
              <a:t>STM32L053R8T6 핀 정리표 (1번 ~ 32번)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143000"/>
          <a:ext cx="1046988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188720"/>
                <a:gridCol w="2651760"/>
                <a:gridCol w="1554480"/>
                <a:gridCol w="914400"/>
                <a:gridCol w="3474720"/>
              </a:tblGrid>
              <a:tr h="16625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핀 번호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핀명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기능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사용 계획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필수 여부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VLCD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LCD 전원 출력 (2차이후)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LCD 미사용 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PC13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GPIO / RTC / Wakeup (2차이후)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확장 여유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PC14-OSC32_IN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LSE 크리스탈 입력 (2차이후)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RTC 정밀도 필요 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PC15-OSC32_OUT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LSE 크리스탈 출력 (2차이후)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RTC 정밀도 필요 시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PH0-OSC_IN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HSE 크리스탈 입력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클럭 정밀도 검토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PH1-OSC_OUT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HSE 크리스탈 출력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클럭 정밀도 검토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NRST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MCU 리셋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디버그 / 복구 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PC0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GPIO (2차이후)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확장 여유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PC1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GPIO (2차이후)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확장 여유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PC2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GPIO (2차이후)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확장 여유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PC3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GPIO (2차이후)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확장 여유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12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VSSA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아날로그 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ADC / 아날로그 기준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VDDA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아날로그 전원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ADC / 아날로그 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14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PA0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GPIO / ADC (2차이후)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확장 여유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RS-485 DE/RE 제어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DCU 통신 방향 제어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16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PA2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USART2_TX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RS-485 TX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PA3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USART2_RX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RS-485 RX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18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VSS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기본 전원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VDD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디지털 전원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기본 전원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20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PA4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GPIO / ADC (2차이후)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확장 여유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PA5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SPI1_SCK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ATM90E26 SCLK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22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PA6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SPI1_MISO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ATM90E26 SDO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PA7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SPI1_MOSI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ATM90E26 SDI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24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PC4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GPIO (2차이후)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확장 여유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PC5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GPIO (2차이후)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확장 여유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26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PB0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릴레이 구동 출력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Relay Driver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PB1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릴레이 피드백 입력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가능하면 반영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28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PB2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GPIO (2차이후)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확장 여유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PB10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ATM90 IRQ 입력 (2차이후)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이벤트 기반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30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PB11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ATM90 WarnOut 입력 (2차이후)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sag / checksum 감시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VSS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기본 전원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7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32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VDD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디지털 전원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기본 전원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C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14C"/>
                </a:solidFill>
                <a:latin typeface="Malgun Gothic"/>
              </a:rPr>
              <a:t>STM32L053R8T6 핀 정리표 (33번 ~ 64번)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143000"/>
          <a:ext cx="1046988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188720"/>
                <a:gridCol w="2651760"/>
                <a:gridCol w="1554480"/>
                <a:gridCol w="914400"/>
                <a:gridCol w="3474720"/>
              </a:tblGrid>
              <a:tr h="16625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핀 번호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핀명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기능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사용 계획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필수 여부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PB12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ATM90 ZX 입력 (2차이후)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릴레이 제어 고도화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34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PB13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ATM90 CF1 입력 (2차이후)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생산 보정 / 검증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PB14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ATM90 CF2 입력 (2차이후)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생산 보정 /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36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PB15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GPIO (2차이후)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확장 여유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PC6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GPIO (2차이후)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확장 여유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38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PC7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GPIO (2차이후)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확장 여유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PC8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RUN LED (2차이후)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상태 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40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PC9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FAULT LED (2차이후)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상태 표시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PA8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GPIO (2차이후)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확장 여유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42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PA9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USART1_TX (2차이후)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서비스 UART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PA10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USART1_RX (2차이후)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서비스 UART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44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PA11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USB DM (2차이후)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USB 미사용 기준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PA12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USB DP (2차이후)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USB 미사용 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46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PA13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SWDIO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디버그 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VDD_USB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USB 전원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USB 사용 여부 검토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48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VSS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기본 전원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PA14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SWCLK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디버그 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50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PA15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GPIO / SWD (2차이후)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확장 여유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PC10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GPIO (2차이후)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확장 여유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52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PC11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GPIO (2차이후)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확장 여유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PC12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GPIO (2차이후)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확장 여유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54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PD2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GPIO (2차이후)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확장 여유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PB3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GPIO (2차이후)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확장 여유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56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PB4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GPIO (2차이후)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확장 여유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PB5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GPIO (2차이후)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확장 여유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58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PB6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ATM90 CS 제어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SPI chip select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PB7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ATM90 Reset 제어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칩 초기화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60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BOOT0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부트 모드 설정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고정 설정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부트 조건 고정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PB8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GPIO (2차이후)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확장 여유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62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PB9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GPIO (2차이후)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확장 여유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VSS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GND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기본 전원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27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64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VDD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디지털 전원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1E1E"/>
                          </a:solidFill>
                          <a:latin typeface="Malgun Gothic"/>
                        </a:rPr>
                        <a:t>기본 전원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