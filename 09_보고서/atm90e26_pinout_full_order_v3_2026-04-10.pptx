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  <a:latin typeface="Malgun Gothic"/>
              </a:rPr>
              <a:t>ATM90E26 핀 순서 정리</a:t>
            </a:r>
          </a:p>
          <a:p>
            <a:pPr>
              <a:defRPr sz="1000">
                <a:solidFill>
                  <a:srgbClr val="5F5F5F"/>
                </a:solidFill>
                <a:latin typeface="Malgun Gothic"/>
              </a:defRPr>
            </a:pPr>
            <a:r>
              <a:t>필수 핀 기능만 빨간색 / 비필수 및 2차이후는 검정색 / 미정은 미정 표기</a:t>
            </a:r>
          </a:p>
        </p:txBody>
      </p:sp>
      <p:sp>
        <p:nvSpPr>
          <p:cNvPr id="4" name="Rectangle 3"/>
          <p:cNvSpPr/>
          <p:nvPr/>
        </p:nvSpPr>
        <p:spPr>
          <a:xfrm>
            <a:off x="3291840" y="1325880"/>
            <a:ext cx="283464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93008" y="1481328"/>
            <a:ext cx="109728" cy="109728"/>
          </a:xfrm>
          <a:prstGeom prst="ellipse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0" y="157276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06040" y="1517904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17904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MMD1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149961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미터링 모드 설정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856231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801367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01367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DGND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1783079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디지털 GND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13969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2084831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084831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DVDD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066543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디지털 전원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42316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2368296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368296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Reset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2350008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칩 리셋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270662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6040" y="2651760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2651760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AVDD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2633472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아날로그 전원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299008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2935224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2935224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AGND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" y="291693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아날로그 GND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27355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06040" y="321868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218688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I2P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320040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N line 전류 + 입력 (2차이후)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0" y="3557015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06040" y="3502151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3502151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I2N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3483863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N line 전류 - 입력 (2차이후)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384048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6040" y="3785616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3785616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Resv_Low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" y="3767328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Reserved, GND 연결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412394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06040" y="4069080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4069080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I1P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" y="4050791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L line 전류 + 입력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26080" y="440740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40" y="4352544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4352544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I1N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" y="4334256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L line 전류 - 입력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26080" y="469087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606040" y="4636008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4636008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USEL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8600" y="46177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UART/SPI 선택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26080" y="497433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06040" y="4919472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919472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Vref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" y="4901183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기준 전압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26080" y="525780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06040" y="5202936"/>
            <a:ext cx="25603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17320" y="5202936"/>
            <a:ext cx="1143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AGND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8600" y="5184648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아날로그 GND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44768" y="525780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10528" y="520293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2280" y="5202936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VN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909560" y="5184648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전압 - 입력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44768" y="497433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510528" y="4919472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12280" y="4919472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VP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09560" y="4901183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전압 + 입력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44768" y="469087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10528" y="463600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17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12280" y="4636008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WarnOut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909560" y="4617720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경고 출력 (2차이후)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44768" y="440740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10528" y="435254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12280" y="4352544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CF1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09560" y="433425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에너지 펄스 출력 (2차이후)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44768" y="412394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510528" y="406908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12280" y="406908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CF2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09560" y="4050791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에너지 펄스 출력 (2차이후)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144768" y="384048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10528" y="378561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20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12280" y="3785616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IRQ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09560" y="3767328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인터럽트 출력 (2차이후)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44768" y="3557015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10528" y="3502151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12280" y="3502151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ZX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909560" y="3483863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1E1E1E"/>
                </a:solidFill>
                <a:latin typeface="Malgun Gothic"/>
              </a:rPr>
              <a:t>영점 통과 출력 (2차이후)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44768" y="3273552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10528" y="3218688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22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12280" y="3218688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OSCI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909560" y="3200400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크리스탈 입력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44768" y="299008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10528" y="293522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23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12280" y="2935224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OSCO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909560" y="291693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크리스탈 출력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144768" y="2706624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10528" y="2651760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24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12280" y="2651760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CS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909560" y="2633472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SPI chip select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144768" y="2423160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510528" y="2368296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25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12280" y="2368296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SCLK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909560" y="2350008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SPI clock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44768" y="2139696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510528" y="2084831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26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12280" y="2084831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SDO/UTX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909560" y="2066543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SPI MISO / UART TX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144768" y="1856231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510528" y="1801367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27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12280" y="1801367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SDI/URX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909560" y="1783079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SPI MOSI / UART RX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6144768" y="1572768"/>
            <a:ext cx="320040" cy="64008"/>
          </a:xfrm>
          <a:prstGeom prst="rect">
            <a:avLst/>
          </a:prstGeom>
          <a:solidFill>
            <a:srgbClr val="FFFFFF"/>
          </a:solidFill>
          <a:ln>
            <a:solidFill>
              <a:srgbClr val="1C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10528" y="1517904"/>
            <a:ext cx="274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28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12280" y="1517904"/>
            <a:ext cx="1051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1E1E1E"/>
                </a:solidFill>
                <a:latin typeface="Malgun Gothic"/>
              </a:rPr>
              <a:t>MMD0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909560" y="1499616"/>
            <a:ext cx="3749039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C02828"/>
                </a:solidFill>
                <a:latin typeface="Malgun Gothic"/>
              </a:rPr>
              <a:t>미터링 모드 설정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920240" y="5989320"/>
            <a:ext cx="5486400" cy="411480"/>
          </a:xfrm>
          <a:prstGeom prst="roundRect">
            <a:avLst/>
          </a:prstGeom>
          <a:solidFill>
            <a:srgbClr val="FFFFFF"/>
          </a:solidFill>
          <a:ln>
            <a:solidFill>
              <a:srgbClr val="447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1E1E1E"/>
                </a:solidFill>
                <a:latin typeface="Malgun Gothic"/>
              </a:rPr>
              <a:t>빨간색: 필수 핀 / 검정색: 비필수, 미정, 2차이후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  <a:latin typeface="Malgun Gothic"/>
              </a:rPr>
              <a:t>ATM90E26 핀 정리표 (1번 ~ 14번)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34440"/>
          <a:ext cx="106984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2743200"/>
                <a:gridCol w="1554480"/>
                <a:gridCol w="914400"/>
                <a:gridCol w="3383280"/>
              </a:tblGrid>
              <a:tr h="3627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핀 번호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핀명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사용 계획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필수 여부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MMD1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미터링 모드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고정 설정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하드웨어 strap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DGND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디지털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DVDD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디지털 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전원 인가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Reset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칩 리셋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MCU GPIO 연결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PB7 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AVDD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아날로그 전원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전원 인가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AGND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아날로그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I2P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N line 전류 + 입력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확장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I2N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N line 전류 - 입력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확장 검토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Resv_Low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Reserved, GND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데이터시트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10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I1P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L line 전류 + 입력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주 전류 채널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I1N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L line 전류 -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주 전류 채널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12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USEL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UART/SPI 선택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고정 설정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현재는 SPI 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Vref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기준 전압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권장 회로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14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AGND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아날로그 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GND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C3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C314C"/>
                </a:solidFill>
                <a:latin typeface="Malgun Gothic"/>
              </a:rPr>
              <a:t>ATM90E26 핀 정리표 (15번 ~ 28번)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234440"/>
          <a:ext cx="106984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2743200"/>
                <a:gridCol w="1554480"/>
                <a:gridCol w="914400"/>
                <a:gridCol w="3383280"/>
              </a:tblGrid>
              <a:tr h="3627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핀 번호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핀명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기능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사용 계획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필수 여부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비고</a:t>
                      </a:r>
                    </a:p>
                  </a:txBody>
                  <a:tcPr>
                    <a:solidFill>
                      <a:srgbClr val="1C314C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VN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전압 -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전압 측정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16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VP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전압 + 입력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전압 측정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WarnOut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경고 출력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sag / 오류 감시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18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CF1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에너지 펄스 출력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생산 보정 / 검증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CF2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에너지 펄스 출력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생산 보정 /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20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IRQ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인터럽트 출력 (2차이후)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이벤트 기반 처리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ZX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영점 통과 출력 (2차이후)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미정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비필수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릴레이 제어 최적화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OSCI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크리스탈 입력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데이터시트 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OSCO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크리스탈 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데이터시트 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24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CS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SPI chip select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MCU 연결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MCU PB6 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SCLK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SPI clock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MCU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MCU PA5 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26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SDO/UTX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SPI MISO / UART TX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MCU 연결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MCU PA6 권장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SDI/URX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SPI MOSI / UART RX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MCU 연결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MCU PA7 권장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28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MMD0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미터링 모드 설정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고정 설정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C02828"/>
                          </a:solidFill>
                          <a:latin typeface="Malgun Gothic"/>
                        </a:rPr>
                        <a:t>필수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E1E1E"/>
                          </a:solidFill>
                          <a:latin typeface="Malgun Gothic"/>
                        </a:rPr>
                        <a:t>하드웨어 strap</a:t>
                      </a:r>
                    </a:p>
                  </a:txBody>
                  <a:tcPr>
                    <a:solidFill>
                      <a:srgbClr val="F2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