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3324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425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0" cy="5070348"/>
          </a:xfrm>
          <a:prstGeom prst="rect">
            <a:avLst/>
          </a:prstGeom>
          <a:solidFill>
            <a:srgbClr val="2E3F80"/>
          </a:solidFill>
          <a:ln w="12700">
            <a:solidFill>
              <a:srgbClr val="2E3F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73152"/>
            <a:ext cx="54864" cy="507034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914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</a:rPr>
              <a:t>선정 결론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0" y="146304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ATM90E26-YU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+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STM32U073C8T6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0" y="164592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최종 칩 선정 및 기능 구현 검토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0" y="24688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계량칩 · MCU 선정 결과 회의 자료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30175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작성일: 2026-04-08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204F"/>
          </a:solidFill>
          <a:ln w="12700">
            <a:solidFill>
              <a:srgbClr val="1620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내부 검토용 자료  |  배포 제한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  |  선정 결과 요약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402336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최종 계량칩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</a:rPr>
              <a:t>ATM90E26-YU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BL0942 → ATM90E26-YU 변경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77724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777240"/>
            <a:ext cx="40233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914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최종 MCU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2344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</a:rPr>
              <a:t>STM32U073C8T6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STM32G071CBT6 → U073C8T6 변경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탈락 칩 정리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429000"/>
            <a:ext cx="182880" cy="256032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42900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444"/>
                </a:solidFill>
              </a:rPr>
              <a:t>✕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MAX 계열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03120" y="34290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초기 검토 후 탈락 — 문서 보관 유지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182880" cy="256032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84048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444"/>
                </a:solidFill>
              </a:rPr>
              <a:t>✕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0080" y="3840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BL0942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03120" y="38404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이전 계량칩 후보 — 참고용 보관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251960"/>
            <a:ext cx="182880" cy="256032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25196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444"/>
                </a:solidFill>
              </a:rPr>
              <a:t>✕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0080" y="42519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STM32G071CBT6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03120" y="42519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이전 MCU 후보 — 참고용 보관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  |  선정 사유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11480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ATM90E26-YU  계량칩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</a:rPr>
              <a:t>단상 계량 기능 범위가 넓음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</a:rPr>
              <a:t>무효전력, 피상전력, 역률, 위상각 직접 계측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</a:rPr>
              <a:t>WarnOut / IRQ / ZX / CF1 / CF2 보조 신호 지원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</a:rPr>
              <a:t>구매처·단가·리드타임·공급성 검토 통과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777240"/>
            <a:ext cx="41148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777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STM32U073C8T6  MCU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261872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</a:rPr>
              <a:t>저전력 특성으로 배터리·계량 환경에 유리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</a:rPr>
              <a:t>UART/USART 2개 이상 + SPI로 계량칩·RS-485 동시 구성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</a:rPr>
              <a:t>STM32CubeMX 지원으로 개발 착수 용이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</a:rPr>
              <a:t>48핀 패키지: 보드 크기 / 확장 핀 배치 균형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  |  기능 구현 가능 여부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</a:rPr>
              <a:t>4 / 6</a:t>
            </a:r>
            <a:endParaRPr lang="en-US" sz="9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A03EC69-ABD2-7010-FC6F-4BC0696D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487605"/>
              </p:ext>
            </p:extLst>
          </p:nvPr>
        </p:nvGraphicFramePr>
        <p:xfrm>
          <a:off x="365760" y="863600"/>
          <a:ext cx="841248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>
                  <a:extLst>
                    <a:ext uri="{9D8B030D-6E8A-4147-A177-3AD203B41FA5}">
                      <a16:colId xmlns:a16="http://schemas.microsoft.com/office/drawing/2014/main" val="3900945404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1183649931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889035991"/>
                    </a:ext>
                  </a:extLst>
                </a:gridCol>
              </a:tblGrid>
              <a:tr h="4120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기능 구분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38100" cmpd="sng">
                      <a:solidFill>
                        <a:srgbClr val="D2D8DF"/>
                      </a:solidFill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구현 여부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38100" cmpd="sng">
                      <a:solidFill>
                        <a:srgbClr val="D2D8DF"/>
                      </a:solidFill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구현 방식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38100" cmpd="sng">
                      <a:solidFill>
                        <a:srgbClr val="D2D8DF"/>
                      </a:solidFill>
                    </a:lnB>
                    <a:solidFill>
                      <a:srgbClr val="E8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936364"/>
                  </a:ext>
                </a:extLst>
              </a:tr>
              <a:tr h="4120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전압 </a:t>
                      </a:r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전류 </a:t>
                      </a:r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주파수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381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381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ATM90E26-YU 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직접 계측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381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32435"/>
                  </a:ext>
                </a:extLst>
              </a:tr>
              <a:tr h="4120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유효 </a:t>
                      </a:r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무효 </a:t>
                      </a:r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피상전력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ATM90E26-YU 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직접 계측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502059"/>
                  </a:ext>
                </a:extLst>
              </a:tr>
              <a:tr h="4120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전력량 </a:t>
                      </a:r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역률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계량값 읽기 및 누적</a:t>
                      </a:r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전송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569696"/>
                  </a:ext>
                </a:extLst>
              </a:tr>
              <a:tr h="4120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과전류 </a:t>
                      </a:r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과전압 차단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STM32U073 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임계값 판단 </a:t>
                      </a:r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+ 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릴레이 제어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656903"/>
                  </a:ext>
                </a:extLst>
              </a:tr>
              <a:tr h="4120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RS-485 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통신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UART + 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외부 </a:t>
                      </a:r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RS-485 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트랜시버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741272"/>
                  </a:ext>
                </a:extLst>
              </a:tr>
              <a:tr h="4120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스케줄 </a:t>
                      </a:r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원격 복구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DCU polling + relay_on/off 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명령 처리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989307"/>
                  </a:ext>
                </a:extLst>
              </a:tr>
              <a:tr h="4120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날짜 </a:t>
                      </a:r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시간 포함 전송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MCU 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처리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196178"/>
                  </a:ext>
                </a:extLst>
              </a:tr>
              <a:tr h="4120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고조파 </a:t>
                      </a:r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누전 </a:t>
                      </a:r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아크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미지원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별도 센서</a:t>
                      </a:r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회로 필요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00337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800" b="1">
                <a:solidFill>
                  <a:srgbClr val="FFFFFF"/>
                </a:solidFill>
              </a:rPr>
              <a:t>05  |  </a:t>
            </a:r>
            <a:r>
              <a:rPr lang="ko-KR" altLang="en-US" sz="1800" b="1">
                <a:solidFill>
                  <a:srgbClr val="FFFFFF"/>
                </a:solidFill>
              </a:rPr>
              <a:t>후보 </a:t>
            </a:r>
            <a:r>
              <a:rPr lang="en-US" sz="1800" b="1">
                <a:solidFill>
                  <a:srgbClr val="FFFFFF"/>
                </a:solidFill>
              </a:rPr>
              <a:t>MCU </a:t>
            </a:r>
            <a:r>
              <a:rPr lang="ko-KR" altLang="en-US" sz="1800" b="1">
                <a:solidFill>
                  <a:srgbClr val="FFFFFF"/>
                </a:solidFill>
              </a:rPr>
              <a:t>비교표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</a:rPr>
              <a:t>5 / 6</a:t>
            </a:r>
            <a:endParaRPr lang="en-US" sz="9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A4B5E61-76D7-01D6-2DF6-B6439123C8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148629"/>
              </p:ext>
            </p:extLst>
          </p:nvPr>
        </p:nvGraphicFramePr>
        <p:xfrm>
          <a:off x="182880" y="863600"/>
          <a:ext cx="877824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192413638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73480424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3482285467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1104903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94800903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3152342813"/>
                    </a:ext>
                  </a:extLst>
                </a:gridCol>
              </a:tblGrid>
              <a:tr h="3371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20" b="1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항목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38100" cmpd="sng">
                      <a:solidFill>
                        <a:srgbClr val="D2D8DF"/>
                      </a:solidFill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20" b="1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STM32U073C8T6</a:t>
                      </a:r>
                      <a:endParaRPr lang="ko-KR" altLang="en-US" sz="1020" b="1">
                        <a:solidFill>
                          <a:srgbClr val="2C3E5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38100" cmpd="sng">
                      <a:solidFill>
                        <a:srgbClr val="D2D8DF"/>
                      </a:solidFill>
                    </a:lnB>
                    <a:solidFill>
                      <a:srgbClr val="C2D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20" b="1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STM32G071CBT6</a:t>
                      </a:r>
                      <a:endParaRPr lang="ko-KR" altLang="en-US" sz="1020" b="1">
                        <a:solidFill>
                          <a:srgbClr val="2C3E5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38100" cmpd="sng">
                      <a:solidFill>
                        <a:srgbClr val="D2D8DF"/>
                      </a:solidFill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20" b="1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STM32F103C8T6</a:t>
                      </a:r>
                      <a:endParaRPr lang="ko-KR" altLang="en-US" sz="1020" b="1">
                        <a:solidFill>
                          <a:srgbClr val="2C3E5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38100" cmpd="sng">
                      <a:solidFill>
                        <a:srgbClr val="D2D8DF"/>
                      </a:solidFill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20" b="1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Renesas RA2L1</a:t>
                      </a:r>
                      <a:endParaRPr lang="ko-KR" altLang="en-US" sz="1020" b="1">
                        <a:solidFill>
                          <a:srgbClr val="2C3E5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38100" cmpd="sng">
                      <a:solidFill>
                        <a:srgbClr val="D2D8DF"/>
                      </a:solidFill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20" b="1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NXP K32L2B31</a:t>
                      </a:r>
                      <a:endParaRPr lang="ko-KR" altLang="en-US" sz="1020" b="1">
                        <a:solidFill>
                          <a:srgbClr val="2C3E5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38100" cmpd="sng">
                      <a:solidFill>
                        <a:srgbClr val="D2D8DF"/>
                      </a:solidFill>
                    </a:lnB>
                    <a:solidFill>
                      <a:srgbClr val="E8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85671"/>
                  </a:ext>
                </a:extLst>
              </a:tr>
              <a:tr h="3371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현재 기능 구현 가능 여부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381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381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E2EF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381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381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381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381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69654"/>
                  </a:ext>
                </a:extLst>
              </a:tr>
              <a:tr h="3371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저전력 특성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매우 유리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E2EF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보통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불리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유리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유리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49920"/>
                  </a:ext>
                </a:extLst>
              </a:tr>
              <a:tr h="33712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UART/USART 2</a:t>
                      </a:r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개 이상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E2EF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466192"/>
                  </a:ext>
                </a:extLst>
              </a:tr>
              <a:tr h="33712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SPI </a:t>
                      </a:r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E2EF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221213"/>
                  </a:ext>
                </a:extLst>
              </a:tr>
              <a:tr h="33712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RS-485 </a:t>
                      </a:r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연동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E2EF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7212043"/>
                  </a:ext>
                </a:extLst>
              </a:tr>
              <a:tr h="33712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CubeMX </a:t>
                      </a:r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사용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E2EF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불가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불가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895260"/>
                  </a:ext>
                </a:extLst>
              </a:tr>
              <a:tr h="3371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개발 난이도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낮음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E2EF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낮음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낮음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보통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보통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9207078"/>
                  </a:ext>
                </a:extLst>
              </a:tr>
              <a:tr h="3371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전력 관점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가장 유리한 축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E2EF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무난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상대적으로 큼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좋음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좋음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931117"/>
                  </a:ext>
                </a:extLst>
              </a:tr>
              <a:tr h="3371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추천도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상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E2EF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중상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중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중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중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4115977"/>
                  </a:ext>
                </a:extLst>
              </a:tr>
              <a:tr h="3371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비고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저전력 </a:t>
                      </a:r>
                      <a:r>
                        <a:rPr lang="en-US" altLang="ko-KR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+ CubeMX </a:t>
                      </a:r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균형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E2EF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안정적 대안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구형이지만 무난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비</a:t>
                      </a:r>
                      <a:r>
                        <a:rPr lang="en-US" altLang="ko-KR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ST </a:t>
                      </a:r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대안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비</a:t>
                      </a:r>
                      <a:r>
                        <a:rPr lang="en-US" altLang="ko-KR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ST </a:t>
                      </a:r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대안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5365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8948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800" b="1">
                <a:solidFill>
                  <a:srgbClr val="FFFFFF"/>
                </a:solidFill>
              </a:rPr>
              <a:t>06  |  </a:t>
            </a:r>
            <a:r>
              <a:rPr lang="ko-KR" altLang="en-US" sz="1800" b="1">
                <a:solidFill>
                  <a:srgbClr val="FFFFFF"/>
                </a:solidFill>
              </a:rPr>
              <a:t>문서 적용 기준 </a:t>
            </a:r>
            <a:r>
              <a:rPr lang="en-US" altLang="ko-KR" sz="1800" b="1">
                <a:solidFill>
                  <a:srgbClr val="FFFFFF"/>
                </a:solidFill>
              </a:rPr>
              <a:t>&amp; </a:t>
            </a:r>
            <a:r>
              <a:rPr lang="ko-KR" altLang="en-US" sz="1800" b="1">
                <a:solidFill>
                  <a:srgbClr val="FFFFFF"/>
                </a:solidFill>
              </a:rPr>
              <a:t>마무리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931920" cy="3200400"/>
          </a:xfrm>
          <a:prstGeom prst="rect">
            <a:avLst/>
          </a:prstGeom>
          <a:solidFill>
            <a:srgbClr val="2E3F80"/>
          </a:solidFill>
          <a:ln w="12700">
            <a:solidFill>
              <a:srgbClr val="3A529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현재 기준 문서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</a:rPr>
              <a:t>01_요구사항 / 04_ATM90E26_기준_계량항목_재정리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</a:rPr>
              <a:t>02_하드웨어 / 14_계량칩_ATM90E26_기능검토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</a:rPr>
              <a:t>02_하드웨어 / 15_ATM90E26_기능전체조사_및_확장방향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</a:rPr>
              <a:t>02_하드웨어 / 17_ATM90E26_YU_구매성_검토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</a:rPr>
              <a:t>03_펌웨어 / 05_STM32U073C8T6_ATM90E26_펌웨어_착수준비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54880" y="868680"/>
            <a:ext cx="4114800" cy="3200400"/>
          </a:xfrm>
          <a:prstGeom prst="rect">
            <a:avLst/>
          </a:prstGeom>
          <a:solidFill>
            <a:srgbClr val="2E3F80"/>
          </a:solidFill>
          <a:ln w="12700">
            <a:solidFill>
              <a:srgbClr val="3A529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</a:rPr>
              <a:t>보관 문서 (참고용)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28016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MAX 계열 문서 — 초기 검토 후 탈락 이력</a:t>
            </a:r>
            <a:endParaRPr lang="en-US" sz="10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BL0942 기반 문서 — 이전 계량칩 검토 이력</a:t>
            </a:r>
            <a:endParaRPr lang="en-US" sz="10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STM32G071CBT6 기반 문서 — 이전 MCU 후보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0" y="3200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삭제하지 않고 참고용으로만 보관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모든 후속 문서는 ATM90E26-YU + STM32U073C8T6 기준으로 진행합니다.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204F"/>
          </a:solidFill>
          <a:ln w="12700">
            <a:solidFill>
              <a:srgbClr val="1620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487</Words>
  <Application>Microsoft Office PowerPoint</Application>
  <PresentationFormat>화면 슬라이드 쇼(16:9)</PresentationFormat>
  <Paragraphs>155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ATM90E26-YU + STM32U073C8T6 선정 결론</dc:title>
  <dc:subject>PptxGenJS Presentation</dc:subject>
  <dc:creator>PptxGenJS</dc:creator>
  <cp:lastModifiedBy>세훈 임</cp:lastModifiedBy>
  <cp:revision>2</cp:revision>
  <dcterms:created xsi:type="dcterms:W3CDTF">2026-04-08T00:28:40Z</dcterms:created>
  <dcterms:modified xsi:type="dcterms:W3CDTF">2026-04-08T00:56:44Z</dcterms:modified>
</cp:coreProperties>
</file>