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324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25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70348"/>
          </a:xfrm>
          <a:prstGeom prst="rect">
            <a:avLst/>
          </a:prstGeom>
          <a:solidFill>
            <a:srgbClr val="2E3F80"/>
          </a:solidFill>
          <a:ln w="12700">
            <a:solidFill>
              <a:srgbClr val="2E3F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73152"/>
            <a:ext cx="54864" cy="50703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선정 결론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14630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ATM90E26-YU</a:t>
            </a:r>
          </a:p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+</a:t>
            </a:r>
          </a:p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</a:rPr>
              <a:t>STM32L053R8T6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0" y="16459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최종 칩 선정 및 기능 구현 검토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계량칩 · MCU 선정 결과 회의 자료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작성일: 2026-04-08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내부 검토용 자료  |  배포 제한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 |  선정 결과 요약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최종 계량칩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ATM90E26-YU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BL0942 → ATM90E26-YU 변경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최종 MCU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761"/>
                </a:solidFill>
              </a:rPr>
              <a:t>STM32L053R8T6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000">
                <a:solidFill>
                  <a:srgbClr val="64748B"/>
                </a:solidFill>
              </a:rPr>
              <a:t>STM32U073RCT6 </a:t>
            </a:r>
            <a:r>
              <a:rPr lang="ko-KR" altLang="en-US" sz="1000">
                <a:solidFill>
                  <a:srgbClr val="64748B"/>
                </a:solidFill>
              </a:rPr>
              <a:t>검토 후 </a:t>
            </a:r>
            <a:r>
              <a:rPr lang="en-US" altLang="ko-KR" sz="1000">
                <a:solidFill>
                  <a:srgbClr val="64748B"/>
                </a:solidFill>
              </a:rPr>
              <a:t>L053R8T6 </a:t>
            </a:r>
            <a:r>
              <a:rPr lang="ko-KR" altLang="en-US" sz="1000">
                <a:solidFill>
                  <a:srgbClr val="64748B"/>
                </a:solidFill>
              </a:rPr>
              <a:t>선정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탈락 칩 정리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2900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MAX 계열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4290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초기 검토 후 탈락 — 문서 보관 유지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BL0942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8404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이전 계량칩 후보 — 참고용 보관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18288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519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</a:rPr>
              <a:t>STM32U073RCT6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64748B"/>
                </a:solidFill>
              </a:rPr>
              <a:t>기능 적합하나 납기 </a:t>
            </a:r>
            <a:r>
              <a:rPr lang="en-US" altLang="ko-KR" sz="1100">
                <a:solidFill>
                  <a:srgbClr val="64748B"/>
                </a:solidFill>
              </a:rPr>
              <a:t>20 Weeks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 |  선정 사유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ATM90E26-YU  계량칩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단상 계량 기능 범위가 넓음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무효전력, 피상전력, 역률, 위상각 직접 계측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WarnOut / IRQ / ZX / CF1 / CF2 보조 신호 지원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</a:rPr>
              <a:t>구매처·단가·리드타임·공급성 검토 통과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STM32L053R8T6  MCU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200">
                <a:solidFill>
                  <a:srgbClr val="1E2761"/>
                </a:solidFill>
              </a:rPr>
              <a:t>저전력 계열 </a:t>
            </a:r>
            <a:r>
              <a:rPr lang="en-US" altLang="ko-KR" sz="1200">
                <a:solidFill>
                  <a:srgbClr val="1E2761"/>
                </a:solidFill>
              </a:rPr>
              <a:t>MCU</a:t>
            </a:r>
            <a:r>
              <a:rPr lang="ko-KR" altLang="en-US" sz="1200">
                <a:solidFill>
                  <a:srgbClr val="1E2761"/>
                </a:solidFill>
              </a:rPr>
              <a:t>로 </a:t>
            </a:r>
            <a:r>
              <a:rPr lang="en-US" altLang="ko-KR" sz="1200">
                <a:solidFill>
                  <a:srgbClr val="1E2761"/>
                </a:solidFill>
              </a:rPr>
              <a:t>Smart Load </a:t>
            </a:r>
            <a:r>
              <a:rPr lang="ko-KR" altLang="en-US" sz="1200">
                <a:solidFill>
                  <a:srgbClr val="1E2761"/>
                </a:solidFill>
              </a:rPr>
              <a:t>용도에 적용 가능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1200">
                <a:solidFill>
                  <a:srgbClr val="1E2761"/>
                </a:solidFill>
              </a:rPr>
              <a:t>UART/USART 2</a:t>
            </a:r>
            <a:r>
              <a:rPr lang="ko-KR" altLang="en-US" sz="1200">
                <a:solidFill>
                  <a:srgbClr val="1E2761"/>
                </a:solidFill>
              </a:rPr>
              <a:t>개 이상 </a:t>
            </a:r>
            <a:r>
              <a:rPr lang="en-US" altLang="ko-KR" sz="1200">
                <a:solidFill>
                  <a:srgbClr val="1E2761"/>
                </a:solidFill>
              </a:rPr>
              <a:t>+ SPI</a:t>
            </a:r>
            <a:r>
              <a:rPr lang="ko-KR" altLang="en-US" sz="1200">
                <a:solidFill>
                  <a:srgbClr val="1E2761"/>
                </a:solidFill>
              </a:rPr>
              <a:t>로 계량칩</a:t>
            </a:r>
            <a:r>
              <a:rPr lang="en-US" altLang="ko-KR" sz="1200">
                <a:solidFill>
                  <a:srgbClr val="1E2761"/>
                </a:solidFill>
              </a:rPr>
              <a:t>·RS-485 </a:t>
            </a:r>
            <a:r>
              <a:rPr lang="ko-KR" altLang="en-US" sz="1200">
                <a:solidFill>
                  <a:srgbClr val="1E2761"/>
                </a:solidFill>
              </a:rPr>
              <a:t>동시 구성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1200">
                <a:solidFill>
                  <a:srgbClr val="1E2761"/>
                </a:solidFill>
              </a:rPr>
              <a:t>STM32CubeMX </a:t>
            </a:r>
            <a:r>
              <a:rPr lang="ko-KR" altLang="en-US" sz="1200">
                <a:solidFill>
                  <a:srgbClr val="1E2761"/>
                </a:solidFill>
              </a:rPr>
              <a:t>지원으로 개발 착수 용이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200">
                <a:solidFill>
                  <a:srgbClr val="1E2761"/>
                </a:solidFill>
              </a:rPr>
              <a:t>인셈 회신 기준 </a:t>
            </a:r>
            <a:r>
              <a:rPr lang="en-US" altLang="ko-KR" sz="1200">
                <a:solidFill>
                  <a:srgbClr val="1E2761"/>
                </a:solidFill>
              </a:rPr>
              <a:t>Delivery ASAP, Buffer </a:t>
            </a:r>
            <a:r>
              <a:rPr lang="ko-KR" altLang="en-US" sz="1200">
                <a:solidFill>
                  <a:srgbClr val="1E2761"/>
                </a:solidFill>
              </a:rPr>
              <a:t>보유로 조달성 우위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 |  기능 구현 가능 여부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4 / 6</a:t>
            </a:r>
            <a:endParaRPr lang="en-US" sz="9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03EC69-ABD2-7010-FC6F-4BC0696D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487605"/>
              </p:ext>
            </p:extLst>
          </p:nvPr>
        </p:nvGraphicFramePr>
        <p:xfrm>
          <a:off x="365760" y="863600"/>
          <a:ext cx="841248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3900945404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118364993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889035991"/>
                    </a:ext>
                  </a:extLst>
                </a:gridCol>
              </a:tblGrid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기능 구분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구현 여부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구현 방식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36364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전압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전류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주파수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ATM90E26-YU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직접 계측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2435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무효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피상전력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ATM90E26-YU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직접 계측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502059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전력량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역률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계량값 읽기 및 누적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569696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과전류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과전압 차단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STM32U073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임계값 판단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릴레이 제어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656903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통신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UART +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외부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트랜시버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741272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스케줄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원격 복구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DCU polling + relay_on/off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명령 처리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89307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날짜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시간 포함 전송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MCU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처리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96178"/>
                  </a:ext>
                </a:extLst>
              </a:tr>
              <a:tr h="4120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고조파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누전 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 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아크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미지원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별도 센서</a:t>
                      </a:r>
                      <a:r>
                        <a:rPr lang="en-US" altLang="ko-KR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10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회로 필요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0033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800" b="1">
                <a:solidFill>
                  <a:srgbClr val="FFFFFF"/>
                </a:solidFill>
              </a:rPr>
              <a:t>05  |  </a:t>
            </a:r>
            <a:r>
              <a:rPr lang="ko-KR" altLang="en-US" sz="1800" b="1">
                <a:solidFill>
                  <a:srgbClr val="FFFFFF"/>
                </a:solidFill>
              </a:rPr>
              <a:t>후보 </a:t>
            </a:r>
            <a:r>
              <a:rPr lang="en-US" sz="1800" b="1">
                <a:solidFill>
                  <a:srgbClr val="FFFFFF"/>
                </a:solidFill>
              </a:rPr>
              <a:t>MCU </a:t>
            </a:r>
            <a:r>
              <a:rPr lang="ko-KR" altLang="en-US" sz="1800" b="1">
                <a:solidFill>
                  <a:srgbClr val="FFFFFF"/>
                </a:solidFill>
              </a:rPr>
              <a:t>비교표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5 / 6</a:t>
            </a:r>
            <a:endParaRPr lang="en-US" sz="9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A4B5E61-76D7-01D6-2DF6-B6439123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506740"/>
              </p:ext>
            </p:extLst>
          </p:nvPr>
        </p:nvGraphicFramePr>
        <p:xfrm>
          <a:off x="182880" y="863600"/>
          <a:ext cx="87782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92413638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73480424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482285467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104903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94800903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152342813"/>
                    </a:ext>
                  </a:extLst>
                </a:gridCol>
              </a:tblGrid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항목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STM32L053R8T6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C2D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STM32U073RCT6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STM32G071CBT6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STM32F103C8T6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20" b="1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Renesas RA2L1</a:t>
                      </a:r>
                      <a:endParaRPr lang="ko-KR" altLang="en-US" sz="1020" b="1">
                        <a:solidFill>
                          <a:srgbClr val="2C3E5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38100" cmpd="sng">
                      <a:solidFill>
                        <a:srgbClr val="D2D8DF"/>
                      </a:solidFill>
                    </a:lnB>
                    <a:solidFill>
                      <a:srgbClr val="E8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85671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현재 기능 구현 가능 여부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381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9654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저전력 특성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매우 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불리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유리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49920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UART/USART 2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개 이상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466192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SPI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22121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RS-485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연동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21204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CubeMX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사용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가능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불가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895260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개발 난이도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낮음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보통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207078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전력 관점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좋음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가장 유리한 축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무난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상대적으로 큼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좋음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31117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추천도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115977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납기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조달 우위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E2EF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저전력 우위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납기 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20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주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안정적 대안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구형이지만 무난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비</a:t>
                      </a:r>
                      <a:r>
                        <a:rPr lang="en-US" altLang="ko-KR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ST </a:t>
                      </a:r>
                      <a:r>
                        <a:rPr lang="ko-KR" altLang="en-US" sz="880" b="0">
                          <a:solidFill>
                            <a:srgbClr val="2C3E50"/>
                          </a:solidFill>
                          <a:latin typeface="Malgun Gothic" panose="020B0503020000020004" pitchFamily="50" charset="-127"/>
                        </a:rPr>
                        <a:t>대안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2D8DF"/>
                      </a:solidFill>
                    </a:lnL>
                    <a:lnR w="12700" cmpd="sng">
                      <a:solidFill>
                        <a:srgbClr val="D2D8DF"/>
                      </a:solidFill>
                    </a:lnR>
                    <a:lnT w="12700" cmpd="sng">
                      <a:solidFill>
                        <a:srgbClr val="D2D8DF"/>
                      </a:solidFill>
                    </a:lnT>
                    <a:lnB w="12700" cmpd="sng">
                      <a:solidFill>
                        <a:srgbClr val="D2D8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36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8948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800" b="1">
                <a:solidFill>
                  <a:srgbClr val="FFFFFF"/>
                </a:solidFill>
              </a:rPr>
              <a:t>06  |  </a:t>
            </a:r>
            <a:r>
              <a:rPr lang="ko-KR" altLang="en-US" sz="1800" b="1">
                <a:solidFill>
                  <a:srgbClr val="FFFFFF"/>
                </a:solidFill>
              </a:rPr>
              <a:t>문서 적용 기준 </a:t>
            </a:r>
            <a:r>
              <a:rPr lang="en-US" altLang="ko-KR" sz="1800" b="1">
                <a:solidFill>
                  <a:srgbClr val="FFFFFF"/>
                </a:solidFill>
              </a:rPr>
              <a:t>&amp; </a:t>
            </a:r>
            <a:r>
              <a:rPr lang="ko-KR" altLang="en-US" sz="1800" b="1">
                <a:solidFill>
                  <a:srgbClr val="FFFFFF"/>
                </a:solidFill>
              </a:rPr>
              <a:t>마무리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200400"/>
          </a:xfrm>
          <a:prstGeom prst="rect">
            <a:avLst/>
          </a:prstGeom>
          <a:solidFill>
            <a:srgbClr val="2E3F80"/>
          </a:solidFill>
          <a:ln w="12700">
            <a:solidFill>
              <a:srgbClr val="3A529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현재 기준 문서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01_</a:t>
            </a:r>
            <a:r>
              <a:rPr lang="ko-KR" altLang="en-US" sz="950">
                <a:solidFill>
                  <a:srgbClr val="CADCFC"/>
                </a:solidFill>
              </a:rPr>
              <a:t>요구사항 </a:t>
            </a:r>
            <a:r>
              <a:rPr lang="en-US" altLang="ko-KR" sz="950">
                <a:solidFill>
                  <a:srgbClr val="CADCFC"/>
                </a:solidFill>
              </a:rPr>
              <a:t>/ 07_</a:t>
            </a:r>
            <a:r>
              <a:rPr lang="ko-KR" altLang="en-US" sz="950">
                <a:solidFill>
                  <a:srgbClr val="CADCFC"/>
                </a:solidFill>
              </a:rPr>
              <a:t>선정결론</a:t>
            </a:r>
            <a:r>
              <a:rPr lang="en-US" altLang="ko-KR" sz="950">
                <a:solidFill>
                  <a:srgbClr val="CADCFC"/>
                </a:solidFill>
              </a:rPr>
              <a:t>_ATM90E26_YU_STM32L053R8T6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01_</a:t>
            </a:r>
            <a:r>
              <a:rPr lang="ko-KR" altLang="en-US" sz="950">
                <a:solidFill>
                  <a:srgbClr val="CADCFC"/>
                </a:solidFill>
              </a:rPr>
              <a:t>요구사항 </a:t>
            </a:r>
            <a:r>
              <a:rPr lang="en-US" altLang="ko-KR" sz="950">
                <a:solidFill>
                  <a:srgbClr val="CADCFC"/>
                </a:solidFill>
              </a:rPr>
              <a:t>/ 04_ATM90E26_</a:t>
            </a:r>
            <a:r>
              <a:rPr lang="ko-KR" altLang="en-US" sz="950">
                <a:solidFill>
                  <a:srgbClr val="CADCFC"/>
                </a:solidFill>
              </a:rPr>
              <a:t>기준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계량항목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재정리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02_</a:t>
            </a:r>
            <a:r>
              <a:rPr lang="ko-KR" altLang="en-US" sz="950">
                <a:solidFill>
                  <a:srgbClr val="CADCFC"/>
                </a:solidFill>
              </a:rPr>
              <a:t>하드웨어 </a:t>
            </a:r>
            <a:r>
              <a:rPr lang="en-US" altLang="ko-KR" sz="950">
                <a:solidFill>
                  <a:srgbClr val="CADCFC"/>
                </a:solidFill>
              </a:rPr>
              <a:t>/ 14_</a:t>
            </a:r>
            <a:r>
              <a:rPr lang="ko-KR" altLang="en-US" sz="950">
                <a:solidFill>
                  <a:srgbClr val="CADCFC"/>
                </a:solidFill>
              </a:rPr>
              <a:t>계량칩</a:t>
            </a:r>
            <a:r>
              <a:rPr lang="en-US" altLang="ko-KR" sz="950">
                <a:solidFill>
                  <a:srgbClr val="CADCFC"/>
                </a:solidFill>
              </a:rPr>
              <a:t>_ATM90E26_</a:t>
            </a:r>
            <a:r>
              <a:rPr lang="ko-KR" altLang="en-US" sz="950">
                <a:solidFill>
                  <a:srgbClr val="CADCFC"/>
                </a:solidFill>
              </a:rPr>
              <a:t>기능검토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02_</a:t>
            </a:r>
            <a:r>
              <a:rPr lang="ko-KR" altLang="en-US" sz="950">
                <a:solidFill>
                  <a:srgbClr val="CADCFC"/>
                </a:solidFill>
              </a:rPr>
              <a:t>하드웨어 </a:t>
            </a:r>
            <a:r>
              <a:rPr lang="en-US" altLang="ko-KR" sz="950">
                <a:solidFill>
                  <a:srgbClr val="CADCFC"/>
                </a:solidFill>
              </a:rPr>
              <a:t>/ 15_ATM90E26_</a:t>
            </a:r>
            <a:r>
              <a:rPr lang="ko-KR" altLang="en-US" sz="950">
                <a:solidFill>
                  <a:srgbClr val="CADCFC"/>
                </a:solidFill>
              </a:rPr>
              <a:t>기능전체조사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및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확장방향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02_</a:t>
            </a:r>
            <a:r>
              <a:rPr lang="ko-KR" altLang="en-US" sz="950">
                <a:solidFill>
                  <a:srgbClr val="CADCFC"/>
                </a:solidFill>
              </a:rPr>
              <a:t>하드웨어 </a:t>
            </a:r>
            <a:r>
              <a:rPr lang="en-US" altLang="ko-KR" sz="950">
                <a:solidFill>
                  <a:srgbClr val="CADCFC"/>
                </a:solidFill>
              </a:rPr>
              <a:t>/ 17_ATM90E26_YU_</a:t>
            </a:r>
            <a:r>
              <a:rPr lang="ko-KR" altLang="en-US" sz="950">
                <a:solidFill>
                  <a:srgbClr val="CADCFC"/>
                </a:solidFill>
              </a:rPr>
              <a:t>구매성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검토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altLang="ko-KR" sz="950">
                <a:solidFill>
                  <a:srgbClr val="CADCFC"/>
                </a:solidFill>
              </a:rPr>
              <a:t>03_</a:t>
            </a:r>
            <a:r>
              <a:rPr lang="ko-KR" altLang="en-US" sz="950">
                <a:solidFill>
                  <a:srgbClr val="CADCFC"/>
                </a:solidFill>
              </a:rPr>
              <a:t>펌웨어 </a:t>
            </a:r>
            <a:r>
              <a:rPr lang="en-US" altLang="ko-KR" sz="950">
                <a:solidFill>
                  <a:srgbClr val="CADCFC"/>
                </a:solidFill>
              </a:rPr>
              <a:t>/ 06_STM32L053R8T6_ATM90E26_</a:t>
            </a:r>
            <a:r>
              <a:rPr lang="ko-KR" altLang="en-US" sz="950">
                <a:solidFill>
                  <a:srgbClr val="CADCFC"/>
                </a:solidFill>
              </a:rPr>
              <a:t>펌웨어</a:t>
            </a:r>
            <a:r>
              <a:rPr lang="en-US" altLang="ko-KR" sz="950">
                <a:solidFill>
                  <a:srgbClr val="CADCFC"/>
                </a:solidFill>
              </a:rPr>
              <a:t>_</a:t>
            </a:r>
            <a:r>
              <a:rPr lang="ko-KR" altLang="en-US" sz="950">
                <a:solidFill>
                  <a:srgbClr val="CADCFC"/>
                </a:solidFill>
              </a:rPr>
              <a:t>착수준비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14800" cy="3200400"/>
          </a:xfrm>
          <a:prstGeom prst="rect">
            <a:avLst/>
          </a:prstGeom>
          <a:solidFill>
            <a:srgbClr val="2E3F80"/>
          </a:solidFill>
          <a:ln w="12700">
            <a:solidFill>
              <a:srgbClr val="3A52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</a:rPr>
              <a:t>보관 문서 (참고용)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altLang="ko-KR" sz="1050">
                <a:solidFill>
                  <a:srgbClr val="FFFFFF"/>
                </a:solidFill>
              </a:rPr>
              <a:t>MAX </a:t>
            </a:r>
            <a:r>
              <a:rPr lang="ko-KR" altLang="en-US" sz="1050">
                <a:solidFill>
                  <a:srgbClr val="FFFFFF"/>
                </a:solidFill>
              </a:rPr>
              <a:t>계열 문서 </a:t>
            </a:r>
            <a:r>
              <a:rPr lang="en-US" altLang="ko-KR" sz="1050">
                <a:solidFill>
                  <a:srgbClr val="FFFFFF"/>
                </a:solidFill>
              </a:rPr>
              <a:t>— </a:t>
            </a:r>
            <a:r>
              <a:rPr lang="ko-KR" altLang="en-US" sz="1050">
                <a:solidFill>
                  <a:srgbClr val="FFFFFF"/>
                </a:solidFill>
              </a:rPr>
              <a:t>초기 검토 후 탈락 이력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altLang="ko-KR" sz="1050">
                <a:solidFill>
                  <a:srgbClr val="FFFFFF"/>
                </a:solidFill>
              </a:rPr>
              <a:t>BL0942 </a:t>
            </a:r>
            <a:r>
              <a:rPr lang="ko-KR" altLang="en-US" sz="1050">
                <a:solidFill>
                  <a:srgbClr val="FFFFFF"/>
                </a:solidFill>
              </a:rPr>
              <a:t>기반 문서 </a:t>
            </a:r>
            <a:r>
              <a:rPr lang="en-US" altLang="ko-KR" sz="1050">
                <a:solidFill>
                  <a:srgbClr val="FFFFFF"/>
                </a:solidFill>
              </a:rPr>
              <a:t>— </a:t>
            </a:r>
            <a:r>
              <a:rPr lang="ko-KR" altLang="en-US" sz="1050">
                <a:solidFill>
                  <a:srgbClr val="FFFFFF"/>
                </a:solidFill>
              </a:rPr>
              <a:t>이전 계량칩 검토 이력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altLang="ko-KR" sz="1050">
                <a:solidFill>
                  <a:srgbClr val="FFFFFF"/>
                </a:solidFill>
              </a:rPr>
              <a:t>STM32G071CBT6 </a:t>
            </a:r>
            <a:r>
              <a:rPr lang="ko-KR" altLang="en-US" sz="1050">
                <a:solidFill>
                  <a:srgbClr val="FFFFFF"/>
                </a:solidFill>
              </a:rPr>
              <a:t>기반 문서 </a:t>
            </a:r>
            <a:r>
              <a:rPr lang="en-US" altLang="ko-KR" sz="1050">
                <a:solidFill>
                  <a:srgbClr val="FFFFFF"/>
                </a:solidFill>
              </a:rPr>
              <a:t>— </a:t>
            </a:r>
            <a:r>
              <a:rPr lang="ko-KR" altLang="en-US" sz="1050">
                <a:solidFill>
                  <a:srgbClr val="FFFFFF"/>
                </a:solidFill>
              </a:rPr>
              <a:t>이전 </a:t>
            </a:r>
            <a:r>
              <a:rPr lang="en-US" altLang="ko-KR" sz="1050">
                <a:solidFill>
                  <a:srgbClr val="FFFFFF"/>
                </a:solidFill>
              </a:rPr>
              <a:t>MCU </a:t>
            </a:r>
            <a:r>
              <a:rPr lang="ko-KR" altLang="en-US" sz="1050">
                <a:solidFill>
                  <a:srgbClr val="FFFFFF"/>
                </a:solidFill>
              </a:rPr>
              <a:t>후보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altLang="ko-KR" sz="1050">
                <a:solidFill>
                  <a:srgbClr val="FFFFFF"/>
                </a:solidFill>
              </a:rPr>
              <a:t>STM32U073RCT6 </a:t>
            </a:r>
            <a:r>
              <a:rPr lang="ko-KR" altLang="en-US" sz="1050">
                <a:solidFill>
                  <a:srgbClr val="FFFFFF"/>
                </a:solidFill>
              </a:rPr>
              <a:t>기반 문서 </a:t>
            </a:r>
            <a:r>
              <a:rPr lang="en-US" altLang="ko-KR" sz="1050">
                <a:solidFill>
                  <a:srgbClr val="FFFFFF"/>
                </a:solidFill>
              </a:rPr>
              <a:t>— </a:t>
            </a:r>
            <a:r>
              <a:rPr lang="ko-KR" altLang="en-US" sz="1050">
                <a:solidFill>
                  <a:srgbClr val="FFFFFF"/>
                </a:solidFill>
              </a:rPr>
              <a:t>납기 이슈로 제외된 </a:t>
            </a:r>
            <a:r>
              <a:rPr lang="en-US" altLang="ko-KR" sz="1050">
                <a:solidFill>
                  <a:srgbClr val="FFFFFF"/>
                </a:solidFill>
              </a:rPr>
              <a:t>MCU </a:t>
            </a:r>
            <a:r>
              <a:rPr lang="ko-KR" altLang="en-US" sz="1050">
                <a:solidFill>
                  <a:srgbClr val="FFFFFF"/>
                </a:solidFill>
              </a:rPr>
              <a:t>후보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삭제하지 않고 참고용으로만 보관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>
                <a:solidFill>
                  <a:srgbClr val="FFFFFF"/>
                </a:solidFill>
              </a:rPr>
              <a:t>모든 후속 문서는 </a:t>
            </a:r>
            <a:r>
              <a:rPr lang="en-US" altLang="ko-KR" sz="1300" b="1">
                <a:solidFill>
                  <a:srgbClr val="FFFFFF"/>
                </a:solidFill>
              </a:rPr>
              <a:t>ATM90E26-YU + STM32L053R8T6 </a:t>
            </a:r>
            <a:r>
              <a:rPr lang="ko-KR" altLang="en-US" sz="1300" b="1">
                <a:solidFill>
                  <a:srgbClr val="FFFFFF"/>
                </a:solidFill>
              </a:rPr>
              <a:t>기준으로 진행합니다</a:t>
            </a:r>
            <a:r>
              <a:rPr lang="en-US" altLang="ko-KR" sz="1300" b="1">
                <a:solidFill>
                  <a:srgbClr val="FFFFFF"/>
                </a:solidFill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6204F"/>
          </a:solidFill>
          <a:ln w="12700">
            <a:solidFill>
              <a:srgbClr val="1620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PresentationFormat>화면 슬라이드 쇼(16:9)</PresentationFormat>
  <Paragraphs>157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ATM90E26-YU + STM32U073C8T6 선정 결론</dc:title>
  <dc:subject>PptxGenJS Presentation</dc:subject>
  <dc:creator>PptxGenJS</dc:creator>
  <cp:lastModifiedBy>세훈 임</cp:lastModifiedBy>
  <cp:revision>4</cp:revision>
  <dcterms:created xsi:type="dcterms:W3CDTF">2026-04-08T00:28:40Z</dcterms:created>
  <dcterms:modified xsi:type="dcterms:W3CDTF">2026-04-08T02:37:48Z</dcterms:modified>
</cp:coreProperties>
</file>