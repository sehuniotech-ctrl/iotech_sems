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FF3293-21D1-9955-C4C3-C4E56F673A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9B26073-1268-326D-C9A6-91ED5F5E1A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C7006A-CF58-30D6-30DB-52A10E1AC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35466-D437-4946-B5CF-F061F2A0ED96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40F61B-3171-BF77-ACFE-FE2F1C373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30CE97-6259-B540-1EBA-2F4984D71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F5892-24EA-4CBA-B52D-1431318DF9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8497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5A8E84-8C8F-F89B-9796-41E5F786D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54FCB9-FCB0-092F-9FD6-3E6C75300A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101454-F5E0-61F0-74B2-2D0BF2C92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35466-D437-4946-B5CF-F061F2A0ED96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E749E7C-834F-1845-88D2-2C38AFC06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00EFB2-7C9B-EDCA-906E-D0CF36BEB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F5892-24EA-4CBA-B52D-1431318DF9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9765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38DA8A-BD17-ECCB-F37B-1D5D77562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23FA257-ED79-74FC-0CFD-87FCBD2EF2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E4A8D6-8710-EAAB-117E-D96108D11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35466-D437-4946-B5CF-F061F2A0ED96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6E78CB-783C-BEAE-94F0-35026D6B8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EC2445-CF42-73F7-B2C8-5C6456FCA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F5892-24EA-4CBA-B52D-1431318DF9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2036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DC1551-6A33-64F2-69F2-E845C9A25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D0D2D8-567C-563F-75D5-3BE6026083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C1FEBD5-BBA9-CA4E-EE5A-569C03CB11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E896DCA-83B3-55F6-36AD-B5EDBCF9D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35466-D437-4946-B5CF-F061F2A0ED96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C09FD41-E762-FA83-CA0D-DC5454AA2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9DB1AFD-DCA2-E2B1-7816-776D579BF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F5892-24EA-4CBA-B52D-1431318DF9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4537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BBF3CA-9BB5-321F-72AE-9BCFDC75B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06B8AC8-E4B5-CDCA-465F-EA0C2DB249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675D452-ADF1-4E88-9D47-0F5550DFE1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ACBA2E1-9715-F9DB-A0CC-2B9D942CE3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6058194-E6D8-A9B1-92B0-46B109A9E9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18A82D8-43AF-D0A2-A88B-593C3E698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35466-D437-4946-B5CF-F061F2A0ED96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86018D1-4A26-AE1C-F1C1-0E2BCAF03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5A38195-73BA-06EB-6C1D-6E2ED2BB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F5892-24EA-4CBA-B52D-1431318DF9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092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4B582F-C57B-DBA9-3247-24B0F92F7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4EF7FA6-D9F6-D712-55E1-3821164D3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35466-D437-4946-B5CF-F061F2A0ED96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28DE6CD-6FCC-416C-6E9C-60BFF0C3C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5705B87-F4E9-34A6-97E7-94FB6E741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F5892-24EA-4CBA-B52D-1431318DF9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0452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B389D7E-1316-CF64-386E-701EB9F8B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35466-D437-4946-B5CF-F061F2A0ED96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1D0E71A-A6AE-2AAC-21A7-0F2697424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ABE0E7-3916-72EB-A65B-99127D4C4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F5892-24EA-4CBA-B52D-1431318DF9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4428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FC2292-0A04-7556-4E2B-368D0C119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A538F6-6CC5-B507-6ABC-C837848539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10A1F75-0103-2A0D-883A-9342215E8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3E7DB1C-E674-3508-6EE4-D4C042EF6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35466-D437-4946-B5CF-F061F2A0ED96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BBCA1C5-2A3C-64FF-C956-26E2FB7F1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1C92546-4423-1032-9B91-D6403FC30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F5892-24EA-4CBA-B52D-1431318DF9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8172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35D12C-E5C8-234D-A73D-C5B200769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971F4A1-BBBF-DB11-940C-8D2642BA6D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F2C9B00-FF3C-F824-03C0-FE0AECC1AD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7C93EA2-703D-2ADF-196C-8181A7DE8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35466-D437-4946-B5CF-F061F2A0ED96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F134420-36CA-F52A-9974-1F6930FF0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F658109-4595-5482-5BA2-395898964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F5892-24EA-4CBA-B52D-1431318DF9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8008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9BA788-DF46-80E7-6B88-1A69F00FD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4380E69-FD6F-59A1-A158-F750126F36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4B7A7F-DBB6-A58F-EA3F-E72AFC40C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35466-D437-4946-B5CF-F061F2A0ED96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825CA1-0925-399C-44FD-65DD3C060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696847-E467-0F08-1CAB-77FDF7D3B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F5892-24EA-4CBA-B52D-1431318DF9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5009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EBFCE30-526B-4338-6B39-55492BF911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BA4765-AB01-A4AF-A59D-EE7B5ACE1D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29A0C6-4C6D-0556-964E-E13C2089F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35466-D437-4946-B5CF-F061F2A0ED96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2B8A1E-C1A2-4B3E-3B0D-FDFB770B3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24B563-2AE4-4523-C307-B065896E0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F5892-24EA-4CBA-B52D-1431318DF9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1543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9B5AF95-A763-0B88-154D-12655FADF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874E70-4E83-EF23-0ACC-10C3BA426A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330AC7-CD40-EA4D-DBF9-D2ED0609D1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F35466-D437-4946-B5CF-F061F2A0ED96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AEBF15-F106-6FC5-7CE4-81D1F9399F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E25AB7-D787-E5B6-A5A8-06DB7928C1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2F5892-24EA-4CBA-B52D-1431318DF9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646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031713B-CCD7-80E6-05A0-B6A2B6B09EEC}"/>
              </a:ext>
            </a:extLst>
          </p:cNvPr>
          <p:cNvSpPr txBox="1"/>
          <p:nvPr/>
        </p:nvSpPr>
        <p:spPr>
          <a:xfrm>
            <a:off x="228600" y="127000"/>
            <a:ext cx="8763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b="1">
                <a:solidFill>
                  <a:srgbClr val="2C3E50"/>
                </a:solidFill>
                <a:latin typeface="Malgun Gothic" panose="020B0503020000020004" pitchFamily="50" charset="-127"/>
              </a:rPr>
              <a:t>HW</a:t>
            </a:r>
            <a:r>
              <a:rPr lang="ko-KR" altLang="en-US" b="1">
                <a:solidFill>
                  <a:srgbClr val="2C3E50"/>
                </a:solidFill>
                <a:latin typeface="Malgun Gothic" panose="020B0503020000020004" pitchFamily="50" charset="-127"/>
              </a:rPr>
              <a:t>팀 전달 기능</a:t>
            </a:r>
            <a:r>
              <a:rPr lang="en-US" altLang="ko-KR" b="1">
                <a:solidFill>
                  <a:srgbClr val="2C3E50"/>
                </a:solidFill>
                <a:latin typeface="Malgun Gothic" panose="020B0503020000020004" pitchFamily="50" charset="-127"/>
              </a:rPr>
              <a:t>-</a:t>
            </a:r>
            <a:r>
              <a:rPr lang="ko-KR" altLang="en-US" b="1">
                <a:solidFill>
                  <a:srgbClr val="2C3E50"/>
                </a:solidFill>
                <a:latin typeface="Malgun Gothic" panose="020B0503020000020004" pitchFamily="50" charset="-127"/>
              </a:rPr>
              <a:t>핀 기준표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223968-6EE8-01D6-B714-60067C2F20EA}"/>
              </a:ext>
            </a:extLst>
          </p:cNvPr>
          <p:cNvSpPr txBox="1"/>
          <p:nvPr/>
        </p:nvSpPr>
        <p:spPr>
          <a:xfrm>
            <a:off x="228600" y="849050"/>
            <a:ext cx="87630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950">
                <a:solidFill>
                  <a:srgbClr val="2C3E50"/>
                </a:solidFill>
                <a:latin typeface="Malgun Gothic" panose="020B0503020000020004" pitchFamily="50" charset="-127"/>
              </a:rPr>
              <a:t>STM32L053R8T6 + ATM90E26-YU / 1</a:t>
            </a:r>
            <a:r>
              <a:rPr lang="ko-KR" altLang="en-US" sz="950">
                <a:solidFill>
                  <a:srgbClr val="2C3E50"/>
                </a:solidFill>
                <a:latin typeface="Malgun Gothic" panose="020B0503020000020004" pitchFamily="50" charset="-127"/>
              </a:rPr>
              <a:t>차 </a:t>
            </a:r>
            <a:r>
              <a:rPr lang="en-US" altLang="ko-KR" sz="950">
                <a:solidFill>
                  <a:srgbClr val="2C3E50"/>
                </a:solidFill>
                <a:latin typeface="Malgun Gothic" panose="020B0503020000020004" pitchFamily="50" charset="-127"/>
              </a:rPr>
              <a:t>· 2</a:t>
            </a:r>
            <a:r>
              <a:rPr lang="ko-KR" altLang="en-US" sz="950">
                <a:solidFill>
                  <a:srgbClr val="2C3E50"/>
                </a:solidFill>
                <a:latin typeface="Malgun Gothic" panose="020B0503020000020004" pitchFamily="50" charset="-127"/>
              </a:rPr>
              <a:t>차 제품 기준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6EE172F1-AA2A-BDA9-76F7-DEBB81B945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7667377"/>
              </p:ext>
            </p:extLst>
          </p:nvPr>
        </p:nvGraphicFramePr>
        <p:xfrm>
          <a:off x="228600" y="1153850"/>
          <a:ext cx="8995299" cy="16781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7703">
                  <a:extLst>
                    <a:ext uri="{9D8B030D-6E8A-4147-A177-3AD203B41FA5}">
                      <a16:colId xmlns:a16="http://schemas.microsoft.com/office/drawing/2014/main" val="3779050183"/>
                    </a:ext>
                  </a:extLst>
                </a:gridCol>
                <a:gridCol w="2257703">
                  <a:extLst>
                    <a:ext uri="{9D8B030D-6E8A-4147-A177-3AD203B41FA5}">
                      <a16:colId xmlns:a16="http://schemas.microsoft.com/office/drawing/2014/main" val="3710650136"/>
                    </a:ext>
                  </a:extLst>
                </a:gridCol>
                <a:gridCol w="2257703">
                  <a:extLst>
                    <a:ext uri="{9D8B030D-6E8A-4147-A177-3AD203B41FA5}">
                      <a16:colId xmlns:a16="http://schemas.microsoft.com/office/drawing/2014/main" val="3766913030"/>
                    </a:ext>
                  </a:extLst>
                </a:gridCol>
                <a:gridCol w="2222190">
                  <a:extLst>
                    <a:ext uri="{9D8B030D-6E8A-4147-A177-3AD203B41FA5}">
                      <a16:colId xmlns:a16="http://schemas.microsoft.com/office/drawing/2014/main" val="2961714424"/>
                    </a:ext>
                  </a:extLst>
                </a:gridCol>
              </a:tblGrid>
              <a:tr h="24322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80" b="1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1</a:t>
                      </a:r>
                      <a:r>
                        <a:rPr lang="ko-KR" altLang="en-US" sz="980" b="1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차 기준</a:t>
                      </a:r>
                    </a:p>
                  </a:txBody>
                  <a:tcPr marL="38100" marR="381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38100" cmpd="sng">
                      <a:solidFill>
                        <a:srgbClr val="D2D8DF"/>
                      </a:solidFill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80" b="1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항목</a:t>
                      </a:r>
                    </a:p>
                  </a:txBody>
                  <a:tcPr marL="38100" marR="381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38100" cmpd="sng">
                      <a:solidFill>
                        <a:srgbClr val="D2D8DF"/>
                      </a:solidFill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80" b="1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적용 여부</a:t>
                      </a:r>
                    </a:p>
                  </a:txBody>
                  <a:tcPr marL="38100" marR="381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38100" cmpd="sng">
                      <a:solidFill>
                        <a:srgbClr val="D2D8DF"/>
                      </a:solidFill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80" b="1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비고</a:t>
                      </a:r>
                    </a:p>
                  </a:txBody>
                  <a:tcPr marL="38100" marR="381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38100" cmpd="sng">
                      <a:solidFill>
                        <a:srgbClr val="D2D8DF"/>
                      </a:solidFill>
                    </a:lnB>
                    <a:solidFill>
                      <a:srgbClr val="E8E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6593722"/>
                  </a:ext>
                </a:extLst>
              </a:tr>
              <a:tr h="35262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2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계측</a:t>
                      </a:r>
                    </a:p>
                  </a:txBody>
                  <a:tcPr marL="38100" marR="381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381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2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전압</a:t>
                      </a:r>
                      <a:r>
                        <a:rPr lang="en-US" altLang="ko-KR" sz="82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/</a:t>
                      </a:r>
                      <a:r>
                        <a:rPr lang="ko-KR" altLang="en-US" sz="82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전류</a:t>
                      </a:r>
                      <a:r>
                        <a:rPr lang="en-US" altLang="ko-KR" sz="82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/</a:t>
                      </a:r>
                      <a:r>
                        <a:rPr lang="ko-KR" altLang="en-US" sz="82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주파수</a:t>
                      </a:r>
                      <a:r>
                        <a:rPr lang="en-US" altLang="ko-KR" sz="82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/</a:t>
                      </a:r>
                      <a:r>
                        <a:rPr lang="ko-KR" altLang="en-US" sz="82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유효</a:t>
                      </a:r>
                      <a:r>
                        <a:rPr lang="en-US" altLang="ko-KR" sz="82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·</a:t>
                      </a:r>
                      <a:r>
                        <a:rPr lang="ko-KR" altLang="en-US" sz="82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무효</a:t>
                      </a:r>
                      <a:r>
                        <a:rPr lang="en-US" altLang="ko-KR" sz="82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·</a:t>
                      </a:r>
                      <a:r>
                        <a:rPr lang="ko-KR" altLang="en-US" sz="82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피상전력</a:t>
                      </a:r>
                      <a:r>
                        <a:rPr lang="en-US" altLang="ko-KR" sz="82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/</a:t>
                      </a:r>
                      <a:r>
                        <a:rPr lang="ko-KR" altLang="en-US" sz="82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역률</a:t>
                      </a:r>
                      <a:r>
                        <a:rPr lang="en-US" altLang="ko-KR" sz="82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/</a:t>
                      </a:r>
                      <a:r>
                        <a:rPr lang="ko-KR" altLang="en-US" sz="82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전력량</a:t>
                      </a:r>
                    </a:p>
                  </a:txBody>
                  <a:tcPr marL="38100" marR="381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381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2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적용</a:t>
                      </a:r>
                    </a:p>
                  </a:txBody>
                  <a:tcPr marL="38100" marR="381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381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E2EFF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2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ATM90E26 </a:t>
                      </a:r>
                      <a:r>
                        <a:rPr lang="ko-KR" altLang="en-US" sz="82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직접 계측</a:t>
                      </a:r>
                    </a:p>
                  </a:txBody>
                  <a:tcPr marL="38100" marR="381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381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814111"/>
                  </a:ext>
                </a:extLst>
              </a:tr>
              <a:tr h="24322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2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보호</a:t>
                      </a:r>
                    </a:p>
                  </a:txBody>
                  <a:tcPr marL="38100" marR="381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2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과전류 차단 </a:t>
                      </a:r>
                      <a:r>
                        <a:rPr lang="en-US" altLang="ko-KR" sz="82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/ </a:t>
                      </a:r>
                      <a:r>
                        <a:rPr lang="ko-KR" altLang="en-US" sz="82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과전압 차단</a:t>
                      </a:r>
                    </a:p>
                  </a:txBody>
                  <a:tcPr marL="38100" marR="381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2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적용</a:t>
                      </a:r>
                    </a:p>
                  </a:txBody>
                  <a:tcPr marL="38100" marR="381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E2EFF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2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MCU </a:t>
                      </a:r>
                      <a:r>
                        <a:rPr lang="ko-KR" altLang="en-US" sz="82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임계값 판단</a:t>
                      </a:r>
                    </a:p>
                  </a:txBody>
                  <a:tcPr marL="38100" marR="381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05870"/>
                  </a:ext>
                </a:extLst>
              </a:tr>
              <a:tr h="24322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2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통신</a:t>
                      </a:r>
                    </a:p>
                  </a:txBody>
                  <a:tcPr marL="38100" marR="381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2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RS-485 polling</a:t>
                      </a:r>
                      <a:endParaRPr lang="ko-KR" altLang="en-US" sz="820" b="0">
                        <a:solidFill>
                          <a:srgbClr val="2C3E5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38100" marR="381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2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적용</a:t>
                      </a:r>
                    </a:p>
                  </a:txBody>
                  <a:tcPr marL="38100" marR="381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E2EFF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2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DCU </a:t>
                      </a:r>
                      <a:r>
                        <a:rPr lang="ko-KR" altLang="en-US" sz="82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통신</a:t>
                      </a:r>
                    </a:p>
                  </a:txBody>
                  <a:tcPr marL="38100" marR="381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9431775"/>
                  </a:ext>
                </a:extLst>
              </a:tr>
              <a:tr h="35262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2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제어</a:t>
                      </a:r>
                    </a:p>
                  </a:txBody>
                  <a:tcPr marL="38100" marR="381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2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릴레이 </a:t>
                      </a:r>
                      <a:r>
                        <a:rPr lang="en-US" altLang="ko-KR" sz="82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ON/OFF, </a:t>
                      </a:r>
                      <a:r>
                        <a:rPr lang="ko-KR" altLang="en-US" sz="82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대기전력 차단</a:t>
                      </a:r>
                      <a:r>
                        <a:rPr lang="en-US" altLang="ko-KR" sz="82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, </a:t>
                      </a:r>
                      <a:r>
                        <a:rPr lang="ko-KR" altLang="en-US" sz="82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스케줄</a:t>
                      </a:r>
                      <a:r>
                        <a:rPr lang="en-US" altLang="ko-KR" sz="82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/</a:t>
                      </a:r>
                      <a:r>
                        <a:rPr lang="ko-KR" altLang="en-US" sz="82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원격 복구</a:t>
                      </a:r>
                    </a:p>
                  </a:txBody>
                  <a:tcPr marL="38100" marR="381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2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적용</a:t>
                      </a:r>
                    </a:p>
                  </a:txBody>
                  <a:tcPr marL="38100" marR="381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E2EFF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2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펌웨어 로직</a:t>
                      </a:r>
                    </a:p>
                  </a:txBody>
                  <a:tcPr marL="38100" marR="381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7629650"/>
                  </a:ext>
                </a:extLst>
              </a:tr>
              <a:tr h="24322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2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표시</a:t>
                      </a:r>
                    </a:p>
                  </a:txBody>
                  <a:tcPr marL="38100" marR="381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2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상태 </a:t>
                      </a:r>
                      <a:r>
                        <a:rPr lang="en-US" altLang="ko-KR" sz="82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LED</a:t>
                      </a:r>
                      <a:endParaRPr lang="ko-KR" altLang="en-US" sz="820" b="0">
                        <a:solidFill>
                          <a:srgbClr val="2C3E5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38100" marR="381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2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미적용</a:t>
                      </a:r>
                    </a:p>
                  </a:txBody>
                  <a:tcPr marL="38100" marR="381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E2EFF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20" b="0" dirty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2</a:t>
                      </a:r>
                      <a:r>
                        <a:rPr lang="ko-KR" altLang="en-US" sz="820" b="0" dirty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차 반영</a:t>
                      </a:r>
                    </a:p>
                  </a:txBody>
                  <a:tcPr marL="38100" marR="381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1520117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3C07900A-35D5-36F2-F527-30B10FE337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6194272"/>
              </p:ext>
            </p:extLst>
          </p:nvPr>
        </p:nvGraphicFramePr>
        <p:xfrm>
          <a:off x="228600" y="2814590"/>
          <a:ext cx="9030812" cy="1489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7703">
                  <a:extLst>
                    <a:ext uri="{9D8B030D-6E8A-4147-A177-3AD203B41FA5}">
                      <a16:colId xmlns:a16="http://schemas.microsoft.com/office/drawing/2014/main" val="2231717661"/>
                    </a:ext>
                  </a:extLst>
                </a:gridCol>
                <a:gridCol w="2257703">
                  <a:extLst>
                    <a:ext uri="{9D8B030D-6E8A-4147-A177-3AD203B41FA5}">
                      <a16:colId xmlns:a16="http://schemas.microsoft.com/office/drawing/2014/main" val="3872447153"/>
                    </a:ext>
                  </a:extLst>
                </a:gridCol>
                <a:gridCol w="2257703">
                  <a:extLst>
                    <a:ext uri="{9D8B030D-6E8A-4147-A177-3AD203B41FA5}">
                      <a16:colId xmlns:a16="http://schemas.microsoft.com/office/drawing/2014/main" val="1190410624"/>
                    </a:ext>
                  </a:extLst>
                </a:gridCol>
                <a:gridCol w="2257703">
                  <a:extLst>
                    <a:ext uri="{9D8B030D-6E8A-4147-A177-3AD203B41FA5}">
                      <a16:colId xmlns:a16="http://schemas.microsoft.com/office/drawing/2014/main" val="2731681968"/>
                    </a:ext>
                  </a:extLst>
                </a:gridCol>
              </a:tblGrid>
              <a:tr h="24818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80" b="1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연결 구간</a:t>
                      </a:r>
                    </a:p>
                  </a:txBody>
                  <a:tcPr marL="38100" marR="381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38100" cmpd="sng">
                      <a:solidFill>
                        <a:srgbClr val="D2D8DF"/>
                      </a:solidFill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80" b="1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방식</a:t>
                      </a:r>
                    </a:p>
                  </a:txBody>
                  <a:tcPr marL="38100" marR="381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38100" cmpd="sng">
                      <a:solidFill>
                        <a:srgbClr val="D2D8DF"/>
                      </a:solidFill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80" b="1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권장 핀</a:t>
                      </a:r>
                    </a:p>
                  </a:txBody>
                  <a:tcPr marL="38100" marR="381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38100" cmpd="sng">
                      <a:solidFill>
                        <a:srgbClr val="D2D8DF"/>
                      </a:solidFill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80" b="1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비고</a:t>
                      </a:r>
                    </a:p>
                  </a:txBody>
                  <a:tcPr marL="38100" marR="381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38100" cmpd="sng">
                      <a:solidFill>
                        <a:srgbClr val="D2D8DF"/>
                      </a:solidFill>
                    </a:lnB>
                    <a:solidFill>
                      <a:srgbClr val="E8E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857856"/>
                  </a:ext>
                </a:extLst>
              </a:tr>
              <a:tr h="24818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2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MCU ↔ ATM90E26</a:t>
                      </a:r>
                      <a:endParaRPr lang="ko-KR" altLang="en-US" sz="820" b="0">
                        <a:solidFill>
                          <a:srgbClr val="2C3E5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38100" marR="381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381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2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SPI1</a:t>
                      </a:r>
                      <a:endParaRPr lang="ko-KR" altLang="en-US" sz="820" b="0">
                        <a:solidFill>
                          <a:srgbClr val="2C3E5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38100" marR="381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381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2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PA5, PA6, PA7, PB6, PB7</a:t>
                      </a:r>
                      <a:endParaRPr lang="ko-KR" altLang="en-US" sz="820" b="0">
                        <a:solidFill>
                          <a:srgbClr val="2C3E5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38100" marR="381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381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E2EFF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2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SCK/MISO/MOSI/CS/RESET</a:t>
                      </a:r>
                      <a:endParaRPr lang="ko-KR" altLang="en-US" sz="820" b="0">
                        <a:solidFill>
                          <a:srgbClr val="2C3E5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38100" marR="381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381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98292"/>
                  </a:ext>
                </a:extLst>
              </a:tr>
              <a:tr h="24818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2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MCU ↔ DCU</a:t>
                      </a:r>
                      <a:endParaRPr lang="ko-KR" altLang="en-US" sz="820" b="0">
                        <a:solidFill>
                          <a:srgbClr val="2C3E5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38100" marR="381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2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USART2 + RS-485</a:t>
                      </a:r>
                      <a:endParaRPr lang="ko-KR" altLang="en-US" sz="820" b="0">
                        <a:solidFill>
                          <a:srgbClr val="2C3E5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38100" marR="381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2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PA2, PA3, PA1</a:t>
                      </a:r>
                      <a:endParaRPr lang="ko-KR" altLang="en-US" sz="820" b="0">
                        <a:solidFill>
                          <a:srgbClr val="2C3E5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38100" marR="381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E2EFF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2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TX/RX/DE-RE</a:t>
                      </a:r>
                      <a:endParaRPr lang="ko-KR" altLang="en-US" sz="820" b="0">
                        <a:solidFill>
                          <a:srgbClr val="2C3E5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38100" marR="381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1159830"/>
                  </a:ext>
                </a:extLst>
              </a:tr>
              <a:tr h="24818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2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MCU ↔ Relay</a:t>
                      </a:r>
                      <a:endParaRPr lang="ko-KR" altLang="en-US" sz="820" b="0">
                        <a:solidFill>
                          <a:srgbClr val="2C3E5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38100" marR="381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2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GPIO</a:t>
                      </a:r>
                      <a:endParaRPr lang="ko-KR" altLang="en-US" sz="820" b="0">
                        <a:solidFill>
                          <a:srgbClr val="2C3E5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38100" marR="381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2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PB0, PB1</a:t>
                      </a:r>
                      <a:endParaRPr lang="ko-KR" altLang="en-US" sz="820" b="0">
                        <a:solidFill>
                          <a:srgbClr val="2C3E5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38100" marR="381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E2EFF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2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Drive/Feedback</a:t>
                      </a:r>
                      <a:endParaRPr lang="ko-KR" altLang="en-US" sz="820" b="0">
                        <a:solidFill>
                          <a:srgbClr val="2C3E5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38100" marR="381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42033"/>
                  </a:ext>
                </a:extLst>
              </a:tr>
              <a:tr h="24818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2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서비스 </a:t>
                      </a:r>
                      <a:r>
                        <a:rPr lang="en-US" altLang="ko-KR" sz="82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UART</a:t>
                      </a:r>
                      <a:endParaRPr lang="ko-KR" altLang="en-US" sz="820" b="0">
                        <a:solidFill>
                          <a:srgbClr val="2C3E5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38100" marR="381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2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USART1</a:t>
                      </a:r>
                      <a:endParaRPr lang="ko-KR" altLang="en-US" sz="820" b="0">
                        <a:solidFill>
                          <a:srgbClr val="2C3E5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38100" marR="381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2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PA9, PA10</a:t>
                      </a:r>
                      <a:endParaRPr lang="ko-KR" altLang="en-US" sz="820" b="0">
                        <a:solidFill>
                          <a:srgbClr val="2C3E5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38100" marR="381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E2EFF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20" b="0" dirty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디버그</a:t>
                      </a:r>
                      <a:r>
                        <a:rPr lang="en-US" altLang="ko-KR" sz="820" b="0" dirty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/</a:t>
                      </a:r>
                      <a:r>
                        <a:rPr lang="ko-KR" altLang="en-US" sz="820" b="0" dirty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로그</a:t>
                      </a:r>
                    </a:p>
                  </a:txBody>
                  <a:tcPr marL="38100" marR="381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3959479"/>
                  </a:ext>
                </a:extLst>
              </a:tr>
              <a:tr h="24818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2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ATM90 </a:t>
                      </a:r>
                      <a:r>
                        <a:rPr lang="ko-KR" altLang="en-US" sz="82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확장핀</a:t>
                      </a:r>
                    </a:p>
                  </a:txBody>
                  <a:tcPr marL="38100" marR="381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2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GPIO/EXTI</a:t>
                      </a:r>
                      <a:endParaRPr lang="ko-KR" altLang="en-US" sz="820" b="0">
                        <a:solidFill>
                          <a:srgbClr val="2C3E5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38100" marR="381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2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PB10~PB14</a:t>
                      </a:r>
                      <a:endParaRPr lang="ko-KR" altLang="en-US" sz="820" b="0">
                        <a:solidFill>
                          <a:srgbClr val="2C3E5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38100" marR="381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E2EFF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20" b="0" dirty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IRQ/</a:t>
                      </a:r>
                      <a:r>
                        <a:rPr lang="en-US" altLang="ko-KR" sz="820" b="0" dirty="0" err="1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WarnOut</a:t>
                      </a:r>
                      <a:r>
                        <a:rPr lang="en-US" altLang="ko-KR" sz="820" b="0" dirty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/ZX/CF1/CF2</a:t>
                      </a:r>
                      <a:endParaRPr lang="ko-KR" altLang="en-US" sz="820" b="0" dirty="0">
                        <a:solidFill>
                          <a:srgbClr val="2C3E5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38100" marR="381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6810302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DD00F977-0FBB-CB3C-CFB9-8819D991D9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140647"/>
              </p:ext>
            </p:extLst>
          </p:nvPr>
        </p:nvGraphicFramePr>
        <p:xfrm>
          <a:off x="228600" y="4303700"/>
          <a:ext cx="9030812" cy="10125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7703">
                  <a:extLst>
                    <a:ext uri="{9D8B030D-6E8A-4147-A177-3AD203B41FA5}">
                      <a16:colId xmlns:a16="http://schemas.microsoft.com/office/drawing/2014/main" val="278453548"/>
                    </a:ext>
                  </a:extLst>
                </a:gridCol>
                <a:gridCol w="2257703">
                  <a:extLst>
                    <a:ext uri="{9D8B030D-6E8A-4147-A177-3AD203B41FA5}">
                      <a16:colId xmlns:a16="http://schemas.microsoft.com/office/drawing/2014/main" val="1661621061"/>
                    </a:ext>
                  </a:extLst>
                </a:gridCol>
                <a:gridCol w="2257703">
                  <a:extLst>
                    <a:ext uri="{9D8B030D-6E8A-4147-A177-3AD203B41FA5}">
                      <a16:colId xmlns:a16="http://schemas.microsoft.com/office/drawing/2014/main" val="951031782"/>
                    </a:ext>
                  </a:extLst>
                </a:gridCol>
                <a:gridCol w="2257703">
                  <a:extLst>
                    <a:ext uri="{9D8B030D-6E8A-4147-A177-3AD203B41FA5}">
                      <a16:colId xmlns:a16="http://schemas.microsoft.com/office/drawing/2014/main" val="524182533"/>
                    </a:ext>
                  </a:extLst>
                </a:gridCol>
              </a:tblGrid>
              <a:tr h="25314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80" b="1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2</a:t>
                      </a:r>
                      <a:r>
                        <a:rPr lang="ko-KR" altLang="en-US" sz="980" b="1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차 기준</a:t>
                      </a:r>
                    </a:p>
                  </a:txBody>
                  <a:tcPr marL="38100" marR="381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38100" cmpd="sng">
                      <a:solidFill>
                        <a:srgbClr val="D2D8DF"/>
                      </a:solidFill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80" b="1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항목</a:t>
                      </a:r>
                    </a:p>
                  </a:txBody>
                  <a:tcPr marL="38100" marR="381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38100" cmpd="sng">
                      <a:solidFill>
                        <a:srgbClr val="D2D8DF"/>
                      </a:solidFill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80" b="1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적용 여부</a:t>
                      </a:r>
                    </a:p>
                  </a:txBody>
                  <a:tcPr marL="38100" marR="381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38100" cmpd="sng">
                      <a:solidFill>
                        <a:srgbClr val="D2D8DF"/>
                      </a:solidFill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80" b="1" dirty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비고</a:t>
                      </a:r>
                    </a:p>
                  </a:txBody>
                  <a:tcPr marL="38100" marR="381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38100" cmpd="sng">
                      <a:solidFill>
                        <a:srgbClr val="D2D8DF"/>
                      </a:solidFill>
                    </a:lnB>
                    <a:solidFill>
                      <a:srgbClr val="E8E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2608141"/>
                  </a:ext>
                </a:extLst>
              </a:tr>
              <a:tr h="25314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2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표시</a:t>
                      </a:r>
                    </a:p>
                  </a:txBody>
                  <a:tcPr marL="38100" marR="381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381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2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상태 </a:t>
                      </a:r>
                      <a:r>
                        <a:rPr lang="en-US" altLang="ko-KR" sz="82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LED</a:t>
                      </a:r>
                      <a:endParaRPr lang="ko-KR" altLang="en-US" sz="820" b="0">
                        <a:solidFill>
                          <a:srgbClr val="2C3E5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38100" marR="381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381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2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적용</a:t>
                      </a:r>
                    </a:p>
                  </a:txBody>
                  <a:tcPr marL="38100" marR="381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381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E2EFF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2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PC8, PC9</a:t>
                      </a:r>
                      <a:endParaRPr lang="ko-KR" altLang="en-US" sz="820" b="0">
                        <a:solidFill>
                          <a:srgbClr val="2C3E5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38100" marR="381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381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333690"/>
                  </a:ext>
                </a:extLst>
              </a:tr>
              <a:tr h="25314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2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확장</a:t>
                      </a:r>
                    </a:p>
                  </a:txBody>
                  <a:tcPr marL="38100" marR="381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2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ATM90 </a:t>
                      </a:r>
                      <a:r>
                        <a:rPr lang="ko-KR" altLang="en-US" sz="82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보조핀 활용</a:t>
                      </a:r>
                    </a:p>
                  </a:txBody>
                  <a:tcPr marL="38100" marR="381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2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적용 검토</a:t>
                      </a:r>
                    </a:p>
                  </a:txBody>
                  <a:tcPr marL="38100" marR="381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E2EFF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20" b="0" dirty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IRQ/</a:t>
                      </a:r>
                      <a:r>
                        <a:rPr lang="en-US" altLang="ko-KR" sz="820" b="0" dirty="0" err="1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WarnOut</a:t>
                      </a:r>
                      <a:r>
                        <a:rPr lang="en-US" altLang="ko-KR" sz="820" b="0" dirty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/ZX/CF1/CF2</a:t>
                      </a:r>
                      <a:endParaRPr lang="ko-KR" altLang="en-US" sz="820" b="0" dirty="0">
                        <a:solidFill>
                          <a:srgbClr val="2C3E5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38100" marR="381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3892750"/>
                  </a:ext>
                </a:extLst>
              </a:tr>
              <a:tr h="25314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2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확장</a:t>
                      </a:r>
                    </a:p>
                  </a:txBody>
                  <a:tcPr marL="38100" marR="381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2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누전</a:t>
                      </a:r>
                      <a:r>
                        <a:rPr lang="en-US" altLang="ko-KR" sz="82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/</a:t>
                      </a:r>
                      <a:r>
                        <a:rPr lang="ko-KR" altLang="en-US" sz="82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영상전류</a:t>
                      </a:r>
                      <a:r>
                        <a:rPr lang="en-US" altLang="ko-KR" sz="82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/</a:t>
                      </a:r>
                      <a:r>
                        <a:rPr lang="ko-KR" altLang="en-US" sz="82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고조파</a:t>
                      </a:r>
                      <a:r>
                        <a:rPr lang="en-US" altLang="ko-KR" sz="82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/</a:t>
                      </a:r>
                      <a:r>
                        <a:rPr lang="ko-KR" altLang="en-US" sz="82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아크</a:t>
                      </a:r>
                    </a:p>
                  </a:txBody>
                  <a:tcPr marL="38100" marR="381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2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적용 검토</a:t>
                      </a:r>
                    </a:p>
                  </a:txBody>
                  <a:tcPr marL="38100" marR="381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E2EFF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20" b="0" dirty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추가 회로 필요</a:t>
                      </a:r>
                    </a:p>
                  </a:txBody>
                  <a:tcPr marL="38100" marR="381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4455074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106371C8-75ED-1F93-3A70-0E85E48C70C5}"/>
              </a:ext>
            </a:extLst>
          </p:cNvPr>
          <p:cNvSpPr txBox="1"/>
          <p:nvPr/>
        </p:nvSpPr>
        <p:spPr>
          <a:xfrm>
            <a:off x="228600" y="5536199"/>
            <a:ext cx="9030810" cy="2246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860" dirty="0">
                <a:solidFill>
                  <a:srgbClr val="2C3E50"/>
                </a:solidFill>
                <a:latin typeface="Malgun Gothic" panose="020B0503020000020004" pitchFamily="50" charset="-127"/>
              </a:rPr>
              <a:t>HW</a:t>
            </a:r>
            <a:r>
              <a:rPr lang="ko-KR" altLang="en-US" sz="860" dirty="0">
                <a:solidFill>
                  <a:srgbClr val="2C3E50"/>
                </a:solidFill>
                <a:latin typeface="Malgun Gothic" panose="020B0503020000020004" pitchFamily="50" charset="-127"/>
              </a:rPr>
              <a:t>팀 확인 요청</a:t>
            </a:r>
            <a:r>
              <a:rPr lang="en-US" altLang="ko-KR" sz="860" dirty="0">
                <a:solidFill>
                  <a:srgbClr val="2C3E50"/>
                </a:solidFill>
                <a:latin typeface="Malgun Gothic" panose="020B0503020000020004" pitchFamily="50" charset="-127"/>
              </a:rPr>
              <a:t>: MCU </a:t>
            </a:r>
            <a:r>
              <a:rPr lang="ko-KR" altLang="en-US" sz="860" dirty="0">
                <a:solidFill>
                  <a:srgbClr val="2C3E50"/>
                </a:solidFill>
                <a:latin typeface="Malgun Gothic" panose="020B0503020000020004" pitchFamily="50" charset="-127"/>
              </a:rPr>
              <a:t>패키지</a:t>
            </a:r>
            <a:r>
              <a:rPr lang="en-US" altLang="ko-KR" sz="860" dirty="0">
                <a:solidFill>
                  <a:srgbClr val="2C3E50"/>
                </a:solidFill>
                <a:latin typeface="Malgun Gothic" panose="020B0503020000020004" pitchFamily="50" charset="-127"/>
              </a:rPr>
              <a:t>, ATM90E26 SPI1 </a:t>
            </a:r>
            <a:r>
              <a:rPr lang="ko-KR" altLang="en-US" sz="860" dirty="0">
                <a:solidFill>
                  <a:srgbClr val="2C3E50"/>
                </a:solidFill>
                <a:latin typeface="Malgun Gothic" panose="020B0503020000020004" pitchFamily="50" charset="-127"/>
              </a:rPr>
              <a:t>적용 가능 여부</a:t>
            </a:r>
            <a:r>
              <a:rPr lang="en-US" altLang="ko-KR" sz="860" dirty="0">
                <a:solidFill>
                  <a:srgbClr val="2C3E50"/>
                </a:solidFill>
                <a:latin typeface="Malgun Gothic" panose="020B0503020000020004" pitchFamily="50" charset="-127"/>
              </a:rPr>
              <a:t>, RS-485 </a:t>
            </a:r>
            <a:r>
              <a:rPr lang="ko-KR" altLang="en-US" sz="860" dirty="0" err="1">
                <a:solidFill>
                  <a:srgbClr val="2C3E50"/>
                </a:solidFill>
                <a:latin typeface="Malgun Gothic" panose="020B0503020000020004" pitchFamily="50" charset="-127"/>
              </a:rPr>
              <a:t>트랜시버</a:t>
            </a:r>
            <a:r>
              <a:rPr lang="ko-KR" altLang="en-US" sz="860" dirty="0">
                <a:solidFill>
                  <a:srgbClr val="2C3E50"/>
                </a:solidFill>
                <a:latin typeface="Malgun Gothic" panose="020B0503020000020004" pitchFamily="50" charset="-127"/>
              </a:rPr>
              <a:t> 구조</a:t>
            </a:r>
            <a:r>
              <a:rPr lang="en-US" altLang="ko-KR" sz="860" dirty="0">
                <a:solidFill>
                  <a:srgbClr val="2C3E50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860" dirty="0">
                <a:solidFill>
                  <a:srgbClr val="2C3E50"/>
                </a:solidFill>
                <a:latin typeface="Malgun Gothic" panose="020B0503020000020004" pitchFamily="50" charset="-127"/>
              </a:rPr>
              <a:t>릴레이 구동</a:t>
            </a:r>
            <a:r>
              <a:rPr lang="en-US" altLang="ko-KR" sz="860" dirty="0">
                <a:solidFill>
                  <a:srgbClr val="2C3E50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860" dirty="0">
                <a:solidFill>
                  <a:srgbClr val="2C3E50"/>
                </a:solidFill>
                <a:latin typeface="Malgun Gothic" panose="020B0503020000020004" pitchFamily="50" charset="-127"/>
              </a:rPr>
              <a:t>피드백 회로</a:t>
            </a:r>
            <a:r>
              <a:rPr lang="en-US" altLang="ko-KR" sz="860" dirty="0">
                <a:solidFill>
                  <a:srgbClr val="2C3E50"/>
                </a:solidFill>
                <a:latin typeface="Malgun Gothic" panose="020B0503020000020004" pitchFamily="50" charset="-127"/>
              </a:rPr>
              <a:t>, ATM90 </a:t>
            </a:r>
            <a:r>
              <a:rPr lang="ko-KR" altLang="en-US" sz="860" dirty="0" err="1">
                <a:solidFill>
                  <a:srgbClr val="2C3E50"/>
                </a:solidFill>
                <a:latin typeface="Malgun Gothic" panose="020B0503020000020004" pitchFamily="50" charset="-127"/>
              </a:rPr>
              <a:t>보조핀</a:t>
            </a:r>
            <a:r>
              <a:rPr lang="ko-KR" altLang="en-US" sz="860" dirty="0">
                <a:solidFill>
                  <a:srgbClr val="2C3E50"/>
                </a:solidFill>
                <a:latin typeface="Malgun Gothic" panose="020B0503020000020004" pitchFamily="50" charset="-127"/>
              </a:rPr>
              <a:t> 반영</a:t>
            </a:r>
            <a:r>
              <a:rPr lang="en-US" altLang="ko-KR" sz="860" dirty="0">
                <a:solidFill>
                  <a:srgbClr val="2C3E50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860" dirty="0">
                <a:solidFill>
                  <a:srgbClr val="2C3E50"/>
                </a:solidFill>
                <a:latin typeface="Malgun Gothic" panose="020B0503020000020004" pitchFamily="50" charset="-127"/>
              </a:rPr>
              <a:t>상태 </a:t>
            </a:r>
            <a:r>
              <a:rPr lang="en-US" altLang="ko-KR" sz="860" dirty="0">
                <a:solidFill>
                  <a:srgbClr val="2C3E50"/>
                </a:solidFill>
                <a:latin typeface="Malgun Gothic" panose="020B0503020000020004" pitchFamily="50" charset="-127"/>
              </a:rPr>
              <a:t>LED(2</a:t>
            </a:r>
            <a:r>
              <a:rPr lang="ko-KR" altLang="en-US" sz="860" dirty="0">
                <a:solidFill>
                  <a:srgbClr val="2C3E50"/>
                </a:solidFill>
                <a:latin typeface="Malgun Gothic" panose="020B0503020000020004" pitchFamily="50" charset="-127"/>
              </a:rPr>
              <a:t>차</a:t>
            </a:r>
            <a:r>
              <a:rPr lang="en-US" altLang="ko-KR" sz="860" dirty="0">
                <a:solidFill>
                  <a:srgbClr val="2C3E50"/>
                </a:solidFill>
                <a:latin typeface="Malgun Gothic" panose="020B0503020000020004" pitchFamily="50" charset="-127"/>
              </a:rPr>
              <a:t>), </a:t>
            </a:r>
            <a:r>
              <a:rPr lang="ko-KR" altLang="en-US" sz="860" dirty="0">
                <a:solidFill>
                  <a:srgbClr val="2C3E50"/>
                </a:solidFill>
                <a:latin typeface="Malgun Gothic" panose="020B0503020000020004" pitchFamily="50" charset="-127"/>
              </a:rPr>
              <a:t>보호회로 구조 확인</a:t>
            </a:r>
          </a:p>
        </p:txBody>
      </p:sp>
    </p:spTree>
    <p:extLst>
      <p:ext uri="{BB962C8B-B14F-4D97-AF65-F5344CB8AC3E}">
        <p14:creationId xmlns:p14="http://schemas.microsoft.com/office/powerpoint/2010/main" val="8375508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243</Words>
  <Application>Microsoft Office PowerPoint</Application>
  <PresentationFormat>와이드스크린</PresentationFormat>
  <Paragraphs>67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Malgun Gothic</vt:lpstr>
      <vt:lpstr>Malgun Gothic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세훈 임</dc:creator>
  <cp:lastModifiedBy>세훈 임</cp:lastModifiedBy>
  <cp:revision>3</cp:revision>
  <dcterms:created xsi:type="dcterms:W3CDTF">2026-04-08T07:41:51Z</dcterms:created>
  <dcterms:modified xsi:type="dcterms:W3CDTF">2026-04-08T08:01:49Z</dcterms:modified>
</cp:coreProperties>
</file>