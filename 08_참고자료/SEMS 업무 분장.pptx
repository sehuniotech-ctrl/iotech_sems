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iiy5C9RFQVRkM2su41kuA8o90D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BCFA66-80A7-4C2F-894D-2320720E07E7}">
  <a:tblStyle styleId="{D8BCFA66-80A7-4C2F-894D-2320720E07E7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1fce5a219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d1fce5a219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142301" y="1283246"/>
            <a:ext cx="9907397" cy="5511834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028113" y="1893814"/>
            <a:ext cx="1627464" cy="604008"/>
          </a:xfrm>
          <a:prstGeom prst="rect">
            <a:avLst/>
          </a:prstGeom>
          <a:solidFill>
            <a:srgbClr val="8296B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3상 점검장치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8493175" y="1893814"/>
            <a:ext cx="1627464" cy="604008"/>
          </a:xfrm>
          <a:prstGeom prst="rect">
            <a:avLst/>
          </a:prstGeom>
          <a:solidFill>
            <a:srgbClr val="8296B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593595" y="2824992"/>
            <a:ext cx="729842" cy="604008"/>
          </a:xfrm>
          <a:prstGeom prst="rect">
            <a:avLst/>
          </a:prstGeom>
          <a:solidFill>
            <a:srgbClr val="8296B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DCU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2786542" y="4058174"/>
            <a:ext cx="1627464" cy="604008"/>
          </a:xfrm>
          <a:prstGeom prst="rect">
            <a:avLst/>
          </a:prstGeom>
          <a:solidFill>
            <a:srgbClr val="8296B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지선 차단기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2786542" y="4989352"/>
            <a:ext cx="1627464" cy="604008"/>
          </a:xfrm>
          <a:prstGeom prst="rect">
            <a:avLst/>
          </a:prstGeom>
          <a:solidFill>
            <a:srgbClr val="8296B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지선 차단기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2786542" y="5920530"/>
            <a:ext cx="1627464" cy="604008"/>
          </a:xfrm>
          <a:prstGeom prst="rect">
            <a:avLst/>
          </a:prstGeom>
          <a:solidFill>
            <a:srgbClr val="8296B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지선 차단기</a:t>
            </a:r>
            <a:endParaRPr/>
          </a:p>
        </p:txBody>
      </p:sp>
      <p:cxnSp>
        <p:nvCxnSpPr>
          <p:cNvPr id="95" name="Google Shape;95;p1"/>
          <p:cNvCxnSpPr>
            <a:stCxn id="92" idx="1"/>
            <a:endCxn id="91" idx="1"/>
          </p:cNvCxnSpPr>
          <p:nvPr/>
        </p:nvCxnSpPr>
        <p:spPr>
          <a:xfrm rot="10800000">
            <a:off x="2593642" y="3126878"/>
            <a:ext cx="192900" cy="1233300"/>
          </a:xfrm>
          <a:prstGeom prst="bentConnector3">
            <a:avLst>
              <a:gd fmla="val 218531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" name="Google Shape;96;p1"/>
          <p:cNvCxnSpPr>
            <a:stCxn id="93" idx="1"/>
            <a:endCxn id="91" idx="1"/>
          </p:cNvCxnSpPr>
          <p:nvPr/>
        </p:nvCxnSpPr>
        <p:spPr>
          <a:xfrm rot="10800000">
            <a:off x="2593642" y="3126856"/>
            <a:ext cx="192900" cy="2164500"/>
          </a:xfrm>
          <a:prstGeom prst="bentConnector3">
            <a:avLst>
              <a:gd fmla="val 218531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" name="Google Shape;97;p1"/>
          <p:cNvCxnSpPr>
            <a:stCxn id="94" idx="1"/>
            <a:endCxn id="91" idx="1"/>
          </p:cNvCxnSpPr>
          <p:nvPr/>
        </p:nvCxnSpPr>
        <p:spPr>
          <a:xfrm rot="10800000">
            <a:off x="2593642" y="3127134"/>
            <a:ext cx="192900" cy="3095400"/>
          </a:xfrm>
          <a:prstGeom prst="bentConnector3">
            <a:avLst>
              <a:gd fmla="val 218531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1"/>
          <p:cNvCxnSpPr>
            <a:stCxn id="91" idx="0"/>
            <a:endCxn id="89" idx="1"/>
          </p:cNvCxnSpPr>
          <p:nvPr/>
        </p:nvCxnSpPr>
        <p:spPr>
          <a:xfrm rot="-5400000">
            <a:off x="3178716" y="1975692"/>
            <a:ext cx="629100" cy="1069500"/>
          </a:xfrm>
          <a:prstGeom prst="bentConnector2">
            <a:avLst/>
          </a:prstGeom>
          <a:noFill/>
          <a:ln cap="flat" cmpd="sng" w="28575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" name="Google Shape;99;p1"/>
          <p:cNvCxnSpPr>
            <a:stCxn id="89" idx="3"/>
            <a:endCxn id="90" idx="1"/>
          </p:cNvCxnSpPr>
          <p:nvPr/>
        </p:nvCxnSpPr>
        <p:spPr>
          <a:xfrm>
            <a:off x="5655577" y="2195818"/>
            <a:ext cx="2837700" cy="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"/>
          <p:cNvSpPr txBox="1"/>
          <p:nvPr/>
        </p:nvSpPr>
        <p:spPr>
          <a:xfrm>
            <a:off x="4496475" y="4113536"/>
            <a:ext cx="14205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임세훈 주임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3317822" y="2931201"/>
            <a:ext cx="14205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김덕회 팀장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4291854" y="1541565"/>
            <a:ext cx="10999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WESYNC</a:t>
            </a:r>
            <a:endParaRPr sz="1800">
              <a:solidFill>
                <a:srgbClr val="0C0C0C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328822" y="1524482"/>
            <a:ext cx="14205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조중협 이사</a:t>
            </a:r>
            <a:endParaRPr/>
          </a:p>
        </p:txBody>
      </p:sp>
      <p:graphicFrame>
        <p:nvGraphicFramePr>
          <p:cNvPr id="104" name="Google Shape;104;p1"/>
          <p:cNvGraphicFramePr/>
          <p:nvPr/>
        </p:nvGraphicFramePr>
        <p:xfrm>
          <a:off x="6537005" y="44064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{D8BCFA66-80A7-4C2F-894D-2320720E07E7}</a:tableStyleId>
              </a:tblPr>
              <a:tblGrid>
                <a:gridCol w="1950075"/>
                <a:gridCol w="1633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개발 내역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담당 인원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A5A5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MQTT SERVER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조중협 이사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3상 점검장치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WESYNC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DCU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김덕회 팀장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지선 차단기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임세훈 주임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5" name="Google Shape;105;p1"/>
          <p:cNvSpPr txBox="1"/>
          <p:nvPr/>
        </p:nvSpPr>
        <p:spPr>
          <a:xfrm>
            <a:off x="687897" y="402672"/>
            <a:ext cx="31694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SEMS 개발 업무 분장</a:t>
            </a:r>
            <a:endParaRPr/>
          </a:p>
        </p:txBody>
      </p:sp>
      <p:cxnSp>
        <p:nvCxnSpPr>
          <p:cNvPr id="106" name="Google Shape;106;p1"/>
          <p:cNvCxnSpPr/>
          <p:nvPr/>
        </p:nvCxnSpPr>
        <p:spPr>
          <a:xfrm>
            <a:off x="687897" y="1073791"/>
            <a:ext cx="10361801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" name="Google Shape;107;p1"/>
          <p:cNvSpPr txBox="1"/>
          <p:nvPr/>
        </p:nvSpPr>
        <p:spPr>
          <a:xfrm>
            <a:off x="1228434" y="4366361"/>
            <a:ext cx="12264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UART-485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2398078" y="1789829"/>
            <a:ext cx="10952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TCP(PLC)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6464571" y="1709148"/>
            <a:ext cx="1254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TCP(WAN)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334300" y="1599625"/>
            <a:ext cx="9272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DCU 개발가능 여부</a:t>
            </a:r>
            <a:b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김덕회팀장님 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type="title"/>
          </p:nvPr>
        </p:nvSpPr>
        <p:spPr>
          <a:xfrm>
            <a:off x="779477" y="-878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None/>
            </a:pPr>
            <a:r>
              <a:rPr b="1" lang="ko-KR" sz="2800"/>
              <a:t>지선 차단기</a:t>
            </a:r>
            <a:endParaRPr/>
          </a:p>
        </p:txBody>
      </p:sp>
      <p:sp>
        <p:nvSpPr>
          <p:cNvPr id="116" name="Google Shape;116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담	당 	: 임세훈 주임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MCU	: </a:t>
            </a:r>
            <a:r>
              <a:rPr b="1" lang="ko-KR"/>
              <a:t>MCU1 </a:t>
            </a:r>
            <a:r>
              <a:rPr lang="ko-KR"/>
              <a:t>+ </a:t>
            </a:r>
            <a:r>
              <a:rPr b="1" lang="ko-KR"/>
              <a:t>계량칩 1 </a:t>
            </a:r>
            <a:r>
              <a:rPr lang="ko-KR"/>
              <a:t>-&gt; </a:t>
            </a:r>
            <a:r>
              <a:rPr b="1" lang="ko-KR"/>
              <a:t>MCU+계량칩 1개 </a:t>
            </a:r>
            <a:br>
              <a:rPr lang="ko-KR"/>
            </a:br>
            <a:br>
              <a:rPr lang="ko-KR"/>
            </a:br>
            <a:r>
              <a:rPr lang="ko-KR" sz="1800"/>
              <a:t>(각각의 MCU와 계량칩을 1개씩 사용-&gt; MCU와 계량칩을 동시에 쓸 수 있는 칩으로 변경. </a:t>
            </a:r>
            <a:br>
              <a:rPr lang="ko-KR" sz="1800"/>
            </a:br>
            <a:r>
              <a:rPr lang="ko-KR" sz="1800"/>
              <a:t>검토중. 검토되면 변경예정으로 MCU선정 관련은 홀딩)</a:t>
            </a:r>
            <a:br>
              <a:rPr lang="ko-KR" sz="1800"/>
            </a:br>
            <a:br>
              <a:rPr lang="ko-KR" sz="1800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MCU</a:t>
            </a:r>
            <a:r>
              <a:rPr lang="ko-KR"/>
              <a:t>통합 계량칩 미선정시 </a:t>
            </a:r>
            <a:r>
              <a:rPr lang="ko-KR"/>
              <a:t>MCU 선정 : ST32F107 100PIN 예정.</a:t>
            </a:r>
            <a:br>
              <a:rPr lang="ko-KR"/>
            </a:br>
            <a:r>
              <a:rPr lang="ko-KR" sz="2000"/>
              <a:t>체크리스트 : 사이즈, 가격, 단종여부, 공급 가능 여부, 배송기간 등</a:t>
            </a:r>
            <a:br>
              <a:rPr lang="ko-KR" sz="2000"/>
            </a:br>
            <a:r>
              <a:rPr lang="ko-KR" sz="2000"/>
              <a:t>예상 판매량 : 영업 확인 필요 (3,000개 예상)</a:t>
            </a:r>
            <a:endParaRPr sz="2400"/>
          </a:p>
        </p:txBody>
      </p:sp>
      <p:cxnSp>
        <p:nvCxnSpPr>
          <p:cNvPr id="117" name="Google Shape;117;p2"/>
          <p:cNvCxnSpPr/>
          <p:nvPr/>
        </p:nvCxnSpPr>
        <p:spPr>
          <a:xfrm>
            <a:off x="687897" y="1073791"/>
            <a:ext cx="10361801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1fce5a219_0_12"/>
          <p:cNvSpPr txBox="1"/>
          <p:nvPr>
            <p:ph type="title"/>
          </p:nvPr>
        </p:nvSpPr>
        <p:spPr>
          <a:xfrm>
            <a:off x="779477" y="-878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None/>
            </a:pPr>
            <a:r>
              <a:rPr b="1" lang="ko-KR" sz="2800"/>
              <a:t>일정</a:t>
            </a:r>
            <a:endParaRPr/>
          </a:p>
        </p:txBody>
      </p:sp>
      <p:sp>
        <p:nvSpPr>
          <p:cNvPr id="123" name="Google Shape;123;g3d1fce5a219_0_1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ko-KR"/>
              <a:t> 6</a:t>
            </a:r>
            <a:r>
              <a:rPr lang="ko-KR"/>
              <a:t>월까지</a:t>
            </a:r>
            <a:endParaRPr/>
          </a:p>
        </p:txBody>
      </p:sp>
      <p:cxnSp>
        <p:nvCxnSpPr>
          <p:cNvPr id="124" name="Google Shape;124;g3d1fce5a219_0_12"/>
          <p:cNvCxnSpPr/>
          <p:nvPr/>
        </p:nvCxnSpPr>
        <p:spPr>
          <a:xfrm>
            <a:off x="687897" y="1073791"/>
            <a:ext cx="103617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2026-03-24T00:27:53Z</dcterms:created>
  <dc:creator>세훈 임</dc:creator>
</cp:coreProperties>
</file>