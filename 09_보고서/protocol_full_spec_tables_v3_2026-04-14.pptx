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334C"/>
                </a:solidFill>
                <a:latin typeface="맑은 고딕"/>
              </a:rPr>
              <a:t>지선차단기 - DCU 통신 프로토콜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70432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맑은 고딕"/>
              </a:rPr>
              <a:t>프레임 형식 / 필드 정의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554480"/>
          <a:ext cx="113385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  <a:gridCol w="2834640"/>
                <a:gridCol w="2834640"/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334C"/>
                          </a:solidFill>
                          <a:latin typeface="맑은 고딕"/>
                        </a:rPr>
                        <a:t>필드</a:t>
                      </a:r>
                    </a:p>
                  </a:txBody>
                  <a:tcPr anchor="ctr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334C"/>
                          </a:solidFill>
                          <a:latin typeface="맑은 고딕"/>
                        </a:rPr>
                        <a:t>크기</a:t>
                      </a:r>
                    </a:p>
                  </a:txBody>
                  <a:tcPr anchor="ctr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334C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 anchor="ctr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334C"/>
                          </a:solidFill>
                          <a:latin typeface="맑은 고딕"/>
                        </a:rPr>
                        <a:t>초기값 / 비고</a:t>
                      </a:r>
                    </a:p>
                  </a:txBody>
                  <a:tcPr anchor="ctr">
                    <a:solidFill>
                      <a:srgbClr val="E1EB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82828"/>
                          </a:solidFill>
                          <a:latin typeface="맑은 고딕"/>
                        </a:rPr>
                        <a:t>STX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1 byte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프레임 시작 표시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0x7E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82828"/>
                          </a:solidFill>
                          <a:latin typeface="맑은 고딕"/>
                        </a:rPr>
                        <a:t>VER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1 byte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프로토콜 버전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0x01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82828"/>
                          </a:solidFill>
                          <a:latin typeface="맑은 고딕"/>
                        </a:rPr>
                        <a:t>MSG_TYPE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1 byte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메시지 종류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Read / Control / ACK / NACK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82828"/>
                          </a:solidFill>
                          <a:latin typeface="맑은 고딕"/>
                        </a:rPr>
                        <a:t>SEQ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1 byte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요청-응답 식별 번호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0x00 ~ 0xFF 순환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82828"/>
                          </a:solidFill>
                          <a:latin typeface="맑은 고딕"/>
                        </a:rPr>
                        <a:t>SL_ID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1 byte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장치 식별자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장치별 고유 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82828"/>
                          </a:solidFill>
                          <a:latin typeface="맑은 고딕"/>
                        </a:rPr>
                        <a:t>LEN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2 byte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Payload 길이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byte 단위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82828"/>
                          </a:solidFill>
                          <a:latin typeface="맑은 고딕"/>
                        </a:rPr>
                        <a:t>PAYLOAD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N byte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실제 데이터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TLV 유사 구조 사용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82828"/>
                          </a:solidFill>
                          <a:latin typeface="맑은 고딕"/>
                        </a:rPr>
                        <a:t>CRC16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2 byte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프레임 오류 검출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무결성 확인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82828"/>
                          </a:solidFill>
                          <a:latin typeface="맑은 고딕"/>
                        </a:rPr>
                        <a:t>ETX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1 byte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프레임 종료 표시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0x7E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800600"/>
            <a:ext cx="5577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D4E89"/>
                </a:solidFill>
                <a:latin typeface="맑은 고딕"/>
              </a:rPr>
              <a:t>필드 해석 요점</a:t>
            </a:r>
          </a:p>
          <a:p>
            <a:pPr/>
            <a:r>
              <a:rPr sz="1100" b="0">
                <a:solidFill>
                  <a:srgbClr val="282828"/>
                </a:solidFill>
                <a:latin typeface="맑은 고딕"/>
              </a:rPr>
              <a:t>- SEQ는 요청-응답 매칭과 재전송 중복 방지를 위해 사용</a:t>
            </a:r>
          </a:p>
          <a:p>
            <a:pPr/>
            <a:r>
              <a:rPr sz="1100" b="0">
                <a:solidFill>
                  <a:srgbClr val="282828"/>
                </a:solidFill>
                <a:latin typeface="맑은 고딕"/>
              </a:rPr>
              <a:t>- CRC16은 수신 데이터 손상 검출용</a:t>
            </a:r>
          </a:p>
          <a:p>
            <a:pPr/>
            <a:r>
              <a:rPr sz="1100" b="0">
                <a:solidFill>
                  <a:srgbClr val="282828"/>
                </a:solidFill>
                <a:latin typeface="맑은 고딕"/>
              </a:rPr>
              <a:t>- STX/ETX는 프레임 경계 식별용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6126480"/>
            <a:ext cx="11064240" cy="411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D4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82828"/>
                </a:solidFill>
                <a:latin typeface="맑은 고딕"/>
              </a:rPr>
              <a:t>프레임 시작 / 종료 바이트는 0x7E로 통일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334C"/>
                </a:solidFill>
                <a:latin typeface="맑은 고딕"/>
              </a:rPr>
              <a:t>메시지 종류 및 Payload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70432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맑은 고딕"/>
              </a:rPr>
              <a:t>메시지 코드 / TLV 구조 / 3개 단위 전송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54480"/>
          <a:ext cx="530352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29146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334C"/>
                          </a:solidFill>
                          <a:latin typeface="맑은 고딕"/>
                        </a:rPr>
                        <a:t>코드</a:t>
                      </a:r>
                    </a:p>
                  </a:txBody>
                  <a:tcPr anchor="ctr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334C"/>
                          </a:solidFill>
                          <a:latin typeface="맑은 고딕"/>
                        </a:rPr>
                        <a:t>이름</a:t>
                      </a:r>
                    </a:p>
                  </a:txBody>
                  <a:tcPr anchor="ctr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334C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 anchor="ctr">
                    <a:solidFill>
                      <a:srgbClr val="E1EBF7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0x01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Read Request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데이터 조회 요청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0x02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Read Response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데이터 조회 응답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0x03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Control Request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릴레이 제어 요청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0x04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Control Response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릴레이 제어 응답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0x05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Event Report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2차 확장용 이벤트 보고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0x06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ACK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정상 수신 확인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0x07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NACK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오류 또는 거부 응답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89320" y="1554480"/>
          <a:ext cx="562356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</a:tblGrid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334C"/>
                          </a:solidFill>
                          <a:latin typeface="맑은 고딕"/>
                        </a:rPr>
                        <a:t>필드</a:t>
                      </a:r>
                    </a:p>
                  </a:txBody>
                  <a:tcPr anchor="ctr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334C"/>
                          </a:solidFill>
                          <a:latin typeface="맑은 고딕"/>
                        </a:rPr>
                        <a:t>크기</a:t>
                      </a:r>
                    </a:p>
                  </a:txBody>
                  <a:tcPr anchor="ctr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334C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 anchor="ctr">
                    <a:solidFill>
                      <a:srgbClr val="E1EBF7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82828"/>
                          </a:solidFill>
                          <a:latin typeface="맑은 고딕"/>
                        </a:rPr>
                        <a:t>ITEM_ID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2 byte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데이터 항목 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82828"/>
                          </a:solidFill>
                          <a:latin typeface="맑은 고딕"/>
                        </a:rPr>
                        <a:t>TYPE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1 byte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데이터 타입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82828"/>
                          </a:solidFill>
                          <a:latin typeface="맑은 고딕"/>
                        </a:rPr>
                        <a:t>ITEM_LEN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1 byte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VALUE 길이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82828"/>
                          </a:solidFill>
                          <a:latin typeface="맑은 고딕"/>
                        </a:rPr>
                        <a:t>VALUE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N byte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실제 값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35040" y="3749039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D4E89"/>
                </a:solidFill>
                <a:latin typeface="맑은 고딕"/>
              </a:rPr>
              <a:t>전송 규칙</a:t>
            </a:r>
          </a:p>
          <a:p>
            <a:pPr/>
            <a:r>
              <a:rPr sz="1100" b="0">
                <a:solidFill>
                  <a:srgbClr val="282828"/>
                </a:solidFill>
                <a:latin typeface="맑은 고딕"/>
              </a:rPr>
              <a:t>- 응답 Payload는 최대 3개 항목 단위로 전송</a:t>
            </a:r>
          </a:p>
          <a:p>
            <a:pPr/>
            <a:r>
              <a:rPr sz="1100" b="0">
                <a:solidFill>
                  <a:srgbClr val="282828"/>
                </a:solidFill>
                <a:latin typeface="맑은 고딕"/>
              </a:rPr>
              <a:t>- 4개 이상이면 3개 + 나머지 형태로 분할 전송</a:t>
            </a:r>
          </a:p>
          <a:p>
            <a:pPr/>
            <a:r>
              <a:rPr sz="1100" b="0">
                <a:solidFill>
                  <a:srgbClr val="282828"/>
                </a:solidFill>
                <a:latin typeface="맑은 고딕"/>
              </a:rPr>
              <a:t>- 남는 슬롯은 data_empty(0x0000)로 패딩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6126480"/>
            <a:ext cx="11064240" cy="411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D4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82828"/>
                </a:solidFill>
                <a:latin typeface="맑은 고딕"/>
              </a:rPr>
              <a:t>예: 4개 항목 응답 시 1프레임 3개 + 2프레임 1개 + data_empty + data_empty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334C"/>
                </a:solidFill>
                <a:latin typeface="맑은 고딕"/>
              </a:rPr>
              <a:t>데이터 항목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70432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맑은 고딕"/>
              </a:rPr>
              <a:t>지선차단기 -&gt; DCU / DCU -&gt; 지선차단기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463040"/>
          <a:ext cx="1152144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  <a:gridCol w="1920240"/>
                <a:gridCol w="1920240"/>
              </a:tblGrid>
              <a:tr h="29146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334C"/>
                          </a:solidFill>
                          <a:latin typeface="맑은 고딕"/>
                        </a:rPr>
                        <a:t>항목 ID</a:t>
                      </a:r>
                    </a:p>
                  </a:txBody>
                  <a:tcPr anchor="ctr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334C"/>
                          </a:solidFill>
                          <a:latin typeface="맑은 고딕"/>
                        </a:rPr>
                        <a:t>항목명</a:t>
                      </a:r>
                    </a:p>
                  </a:txBody>
                  <a:tcPr anchor="ctr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334C"/>
                          </a:solidFill>
                          <a:latin typeface="맑은 고딕"/>
                        </a:rPr>
                        <a:t>타입</a:t>
                      </a:r>
                    </a:p>
                  </a:txBody>
                  <a:tcPr anchor="ctr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334C"/>
                          </a:solidFill>
                          <a:latin typeface="맑은 고딕"/>
                        </a:rPr>
                        <a:t>단위</a:t>
                      </a:r>
                    </a:p>
                  </a:txBody>
                  <a:tcPr anchor="ctr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334C"/>
                          </a:solidFill>
                          <a:latin typeface="맑은 고딕"/>
                        </a:rPr>
                        <a:t>필수 여부</a:t>
                      </a:r>
                    </a:p>
                  </a:txBody>
                  <a:tcPr anchor="ctr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334C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 anchor="ctr">
                    <a:solidFill>
                      <a:srgbClr val="E1EBF7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0x0000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data_empty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uint32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패딩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빈 슬롯 채움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0x0001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SL_ID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uint8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필수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장치 식별자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0x0002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Voltage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uint32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0.1 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필수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실효 전압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0x0003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Current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uint32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0.01 A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필수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실효 전류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0x0004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Energy_Acc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uint32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Wh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필수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누적 전력량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0x0005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Relay_State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uint8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필수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릴레이 현재 상태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0x0006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Alarm_Code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uint16 bit field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권장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이상 상태 코드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4069080"/>
          <a:ext cx="1060704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1408"/>
                <a:gridCol w="2121408"/>
                <a:gridCol w="2121408"/>
                <a:gridCol w="2121408"/>
                <a:gridCol w="2121408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334C"/>
                          </a:solidFill>
                          <a:latin typeface="맑은 고딕"/>
                        </a:rPr>
                        <a:t>항목 ID</a:t>
                      </a:r>
                    </a:p>
                  </a:txBody>
                  <a:tcPr anchor="ctr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334C"/>
                          </a:solidFill>
                          <a:latin typeface="맑은 고딕"/>
                        </a:rPr>
                        <a:t>항목명</a:t>
                      </a:r>
                    </a:p>
                  </a:txBody>
                  <a:tcPr anchor="ctr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334C"/>
                          </a:solidFill>
                          <a:latin typeface="맑은 고딕"/>
                        </a:rPr>
                        <a:t>타입</a:t>
                      </a:r>
                    </a:p>
                  </a:txBody>
                  <a:tcPr anchor="ctr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334C"/>
                          </a:solidFill>
                          <a:latin typeface="맑은 고딕"/>
                        </a:rPr>
                        <a:t>필수 여부</a:t>
                      </a:r>
                    </a:p>
                  </a:txBody>
                  <a:tcPr anchor="ctr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334C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 anchor="ctr">
                    <a:solidFill>
                      <a:srgbClr val="E1EBF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0x1001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Read_Item_List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list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필수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조회할 항목 목록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0x1002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Relay_Command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uint8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필수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릴레이 ON/OFF 명령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0x1003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Control_Reason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uint8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권장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제어 사유 코드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0x1004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Control_Token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uint32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권장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제어 명령 검증값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6126480"/>
            <a:ext cx="11064240" cy="411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D4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82828"/>
                </a:solidFill>
                <a:latin typeface="맑은 고딕"/>
              </a:rPr>
              <a:t>전압 / 전류 / 전력량은 4 byte로 통일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334C"/>
                </a:solidFill>
                <a:latin typeface="맑은 고딕"/>
              </a:rPr>
              <a:t>타입, 상태값, 알람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70432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맑은 고딕"/>
              </a:rPr>
              <a:t>TYPE / Relay State / Alarm Code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554480"/>
          <a:ext cx="2971800" cy="21031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/>
                <a:gridCol w="1485900"/>
              </a:tblGrid>
              <a:tr h="30044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334C"/>
                          </a:solidFill>
                          <a:latin typeface="맑은 고딕"/>
                        </a:rPr>
                        <a:t>TYPE</a:t>
                      </a:r>
                    </a:p>
                  </a:txBody>
                  <a:tcPr anchor="ctr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334C"/>
                          </a:solidFill>
                          <a:latin typeface="맑은 고딕"/>
                        </a:rPr>
                        <a:t>의미</a:t>
                      </a:r>
                    </a:p>
                  </a:txBody>
                  <a:tcPr anchor="ctr">
                    <a:solidFill>
                      <a:srgbClr val="E1EBF7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0x01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uint8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0x02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uint16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0x03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uint32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0x04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int32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0x05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bit field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0x06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list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0" y="1554480"/>
          <a:ext cx="324612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3060"/>
                <a:gridCol w="1623060"/>
              </a:tblGrid>
              <a:tr h="35661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334C"/>
                          </a:solidFill>
                          <a:latin typeface="맑은 고딕"/>
                        </a:rPr>
                        <a:t>값</a:t>
                      </a:r>
                    </a:p>
                  </a:txBody>
                  <a:tcPr anchor="ctr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334C"/>
                          </a:solidFill>
                          <a:latin typeface="맑은 고딕"/>
                        </a:rPr>
                        <a:t>의미</a:t>
                      </a:r>
                    </a:p>
                  </a:txBody>
                  <a:tcPr anchor="ctr">
                    <a:solidFill>
                      <a:srgbClr val="E1EBF7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0x00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OFF / 차단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0x01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ON / 투입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0x02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전환 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0x03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이상 또는 판별 불가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78040" y="1554480"/>
          <a:ext cx="452628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3140"/>
                <a:gridCol w="2263140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334C"/>
                          </a:solidFill>
                          <a:latin typeface="맑은 고딕"/>
                        </a:rPr>
                        <a:t>비트</a:t>
                      </a:r>
                    </a:p>
                  </a:txBody>
                  <a:tcPr anchor="ctr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334C"/>
                          </a:solidFill>
                          <a:latin typeface="맑은 고딕"/>
                        </a:rPr>
                        <a:t>의미</a:t>
                      </a:r>
                    </a:p>
                  </a:txBody>
                  <a:tcPr anchor="ctr">
                    <a:solidFill>
                      <a:srgbClr val="E1EB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bit0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과전류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bit1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과전압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bit2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저전압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bit3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릴레이 구동 실패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bit4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측정칩 이상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bit5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내부 메모리 이상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bit6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센서 또는 측정값 이상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bit7~15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82828"/>
                          </a:solidFill>
                          <a:latin typeface="맑은 고딕"/>
                        </a:rPr>
                        <a:t>예약 / 향후 확장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069080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D4E89"/>
                </a:solidFill>
                <a:latin typeface="맑은 고딕"/>
              </a:rPr>
              <a:t>판정 기준</a:t>
            </a:r>
          </a:p>
          <a:p>
            <a:pPr/>
            <a:r>
              <a:rPr sz="1100" b="0">
                <a:solidFill>
                  <a:srgbClr val="282828"/>
                </a:solidFill>
                <a:latin typeface="맑은 고딕"/>
              </a:rPr>
              <a:t>- 과전압: 220V 기준 ±10%</a:t>
            </a:r>
          </a:p>
          <a:p>
            <a:pPr/>
            <a:r>
              <a:rPr sz="1100" b="0">
                <a:solidFill>
                  <a:srgbClr val="282828"/>
                </a:solidFill>
                <a:latin typeface="맑은 고딕"/>
              </a:rPr>
              <a:t>- 과전류: N회 측정값의 Max보다 M% 높은 경우</a:t>
            </a:r>
          </a:p>
          <a:p>
            <a:pPr/>
            <a:r>
              <a:rPr sz="1100" b="0">
                <a:solidFill>
                  <a:srgbClr val="282828"/>
                </a:solidFill>
                <a:latin typeface="맑은 고딕"/>
              </a:rPr>
              <a:t>- N, M 값은 별도 확정 필요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6126480"/>
            <a:ext cx="11064240" cy="411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D4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82828"/>
                </a:solidFill>
                <a:latin typeface="맑은 고딕"/>
              </a:rPr>
              <a:t>Alarm_Code는 16비트 bit field 방식 사용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334C"/>
                </a:solidFill>
                <a:latin typeface="맑은 고딕"/>
              </a:rPr>
              <a:t>응답 코드 및 통신 정책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70432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맑은 고딕"/>
              </a:rPr>
              <a:t>Response Code / Retry / Event / 속도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554480"/>
          <a:ext cx="557784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</a:tblGrid>
              <a:tr h="26060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334C"/>
                          </a:solidFill>
                          <a:latin typeface="맑은 고딕"/>
                        </a:rPr>
                        <a:t>코드</a:t>
                      </a:r>
                    </a:p>
                  </a:txBody>
                  <a:tcPr anchor="ctr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334C"/>
                          </a:solidFill>
                          <a:latin typeface="맑은 고딕"/>
                        </a:rPr>
                        <a:t>의미</a:t>
                      </a:r>
                    </a:p>
                  </a:txBody>
                  <a:tcPr anchor="ctr">
                    <a:solidFill>
                      <a:srgbClr val="E1EBF7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0x00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성공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0x01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알 수 없는 메시지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0x02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지원하지 않는 항목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0x03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길이 오류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0x04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CRC 오류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0x05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잘못된 값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0x06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제어 거부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0x07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내부 처리 실패</a:t>
                      </a:r>
                    </a:p>
                  </a:txBody>
                  <a:tcPr anchor="ctr">
                    <a:solidFill>
                      <a:srgbClr val="F0F5FB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0x08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82828"/>
                          </a:solidFill>
                          <a:latin typeface="맑은 고딕"/>
                        </a:rPr>
                        <a:t>토큰 또는 인증 오류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309360" y="1645920"/>
            <a:ext cx="4892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D4E89"/>
                </a:solidFill>
                <a:latin typeface="맑은 고딕"/>
              </a:rPr>
              <a:t>통신 정책</a:t>
            </a:r>
          </a:p>
          <a:p>
            <a:pPr/>
            <a:r>
              <a:rPr sz="1100" b="0">
                <a:solidFill>
                  <a:srgbClr val="282828"/>
                </a:solidFill>
                <a:latin typeface="맑은 고딕"/>
              </a:rPr>
              <a:t>- 응답 없음 시 최대 3회 재전송</a:t>
            </a:r>
          </a:p>
          <a:p>
            <a:pPr/>
            <a:r>
              <a:rPr sz="1100" b="0">
                <a:solidFill>
                  <a:srgbClr val="282828"/>
                </a:solidFill>
                <a:latin typeface="맑은 고딕"/>
              </a:rPr>
              <a:t>- 3회 응답 수신 실패 시 서버 Event 발생</a:t>
            </a:r>
          </a:p>
          <a:p>
            <a:pPr/>
            <a:r>
              <a:rPr sz="1100" b="0">
                <a:solidFill>
                  <a:srgbClr val="282828"/>
                </a:solidFill>
                <a:latin typeface="맑은 고딕"/>
              </a:rPr>
              <a:t>- SEQ는 1 byte 순환값(0x00 ~ 0xFF)</a:t>
            </a:r>
          </a:p>
          <a:p>
            <a:pPr/>
            <a:r>
              <a:rPr sz="1100" b="0">
                <a:solidFill>
                  <a:srgbClr val="282828"/>
                </a:solidFill>
                <a:latin typeface="맑은 고딕"/>
              </a:rPr>
              <a:t>- 동일 SEQ 제어 요청 재수신 시 중복 요청으로 처리</a:t>
            </a:r>
          </a:p>
          <a:p>
            <a:pPr/>
            <a:r>
              <a:rPr sz="1100" b="0">
                <a:solidFill>
                  <a:srgbClr val="282828"/>
                </a:solidFill>
                <a:latin typeface="맑은 고딕"/>
              </a:rPr>
              <a:t>- 통신 속도: 9600 bps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3840480"/>
            <a:ext cx="4892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D4E89"/>
                </a:solidFill>
                <a:latin typeface="맑은 고딕"/>
              </a:rPr>
              <a:t>2차 개발 방향</a:t>
            </a:r>
          </a:p>
          <a:p>
            <a:pPr/>
            <a:r>
              <a:rPr sz="1100" b="0">
                <a:solidFill>
                  <a:srgbClr val="282828"/>
                </a:solidFill>
                <a:latin typeface="맑은 고딕"/>
              </a:rPr>
              <a:t>- Event Report(0x05) 기능 추가 검토</a:t>
            </a:r>
          </a:p>
          <a:p>
            <a:pPr/>
            <a:r>
              <a:rPr sz="1100" b="0">
                <a:solidFill>
                  <a:srgbClr val="282828"/>
                </a:solidFill>
                <a:latin typeface="맑은 고딕"/>
              </a:rPr>
              <a:t>- 추가선 없이 RS-485 비동기 이벤트 방식 검토</a:t>
            </a:r>
          </a:p>
          <a:p>
            <a:pPr/>
            <a:r>
              <a:rPr sz="1100" b="0">
                <a:solidFill>
                  <a:srgbClr val="282828"/>
                </a:solidFill>
                <a:latin typeface="맑은 고딕"/>
              </a:rPr>
              <a:t>- 평상시 Polling + 이상 시 Event 혼합 구조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6126480"/>
            <a:ext cx="11064240" cy="411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D4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82828"/>
                </a:solidFill>
                <a:latin typeface="맑은 고딕"/>
              </a:rPr>
              <a:t>보호 동작은 SL 현장 판단, DCU는 수집 / 전송 / 이력 관리 역할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334C"/>
                </a:solidFill>
                <a:latin typeface="맑은 고딕"/>
              </a:rPr>
              <a:t>예시 프레임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70432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맑은 고딕"/>
              </a:rPr>
              <a:t>조회 / 제어 예시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D4E89"/>
                </a:solidFill>
                <a:latin typeface="맑은 고딕"/>
              </a:rPr>
              <a:t>조회 요청 예시</a:t>
            </a:r>
          </a:p>
          <a:p>
            <a:pPr/>
            <a:r>
              <a:rPr sz="1100" b="0">
                <a:solidFill>
                  <a:srgbClr val="282828"/>
                </a:solidFill>
                <a:latin typeface="맑은 고딕"/>
              </a:rPr>
              <a:t>- [7E][01][01][21][11][0006][0002 0003 0005][CRC16][7E]</a:t>
            </a:r>
          </a:p>
          <a:p>
            <a:pPr/>
            <a:r>
              <a:rPr sz="1100" b="0">
                <a:solidFill>
                  <a:srgbClr val="282828"/>
                </a:solidFill>
                <a:latin typeface="맑은 고딕"/>
              </a:rPr>
              <a:t>- VER=01 / MSG_TYPE=Read Request / SEQ=21 / SL_ID=11</a:t>
            </a:r>
          </a:p>
          <a:p>
            <a:pPr/>
            <a:r>
              <a:rPr sz="1100" b="0">
                <a:solidFill>
                  <a:srgbClr val="282828"/>
                </a:solidFill>
                <a:latin typeface="맑은 고딕"/>
              </a:rPr>
              <a:t>- 전압, 전류, 릴레이 상태 조회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83464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D4E89"/>
                </a:solidFill>
                <a:latin typeface="맑은 고딕"/>
              </a:rPr>
              <a:t>조회 응답 예시</a:t>
            </a:r>
          </a:p>
          <a:p>
            <a:pPr/>
            <a:r>
              <a:rPr sz="1100" b="0">
                <a:solidFill>
                  <a:srgbClr val="282828"/>
                </a:solidFill>
                <a:latin typeface="맑은 고딕"/>
              </a:rPr>
              <a:t>- [7E][01][02][21][11][0012][0002 03 04 00000898][0003 03 04 00001388][0005 01 01 01][CRC16][7E]</a:t>
            </a:r>
          </a:p>
          <a:p>
            <a:pPr/>
            <a:r>
              <a:rPr sz="1100" b="0">
                <a:solidFill>
                  <a:srgbClr val="282828"/>
                </a:solidFill>
                <a:latin typeface="맑은 고딕"/>
              </a:rPr>
              <a:t>- Voltage=220.0V / Current=50.00A / Relay_State=ON</a:t>
            </a:r>
          </a:p>
          <a:p>
            <a:pPr/>
            <a:r>
              <a:rPr sz="1100" b="0">
                <a:solidFill>
                  <a:srgbClr val="282828"/>
                </a:solidFill>
                <a:latin typeface="맑은 고딕"/>
              </a:rPr>
              <a:t>- 각 항목은 ITEM_ID + TYPE + LEN + VALUE 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526280"/>
            <a:ext cx="10972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D4E89"/>
                </a:solidFill>
                <a:latin typeface="맑은 고딕"/>
              </a:rPr>
              <a:t>제어 요청 / 응답 예시</a:t>
            </a:r>
          </a:p>
          <a:p>
            <a:pPr/>
            <a:r>
              <a:rPr sz="1100" b="0">
                <a:solidFill>
                  <a:srgbClr val="282828"/>
                </a:solidFill>
                <a:latin typeface="맑은 고딕"/>
              </a:rPr>
              <a:t>- 요청: [7E][01][03][22][11][0002][1002 00][CRC16][7E]</a:t>
            </a:r>
          </a:p>
          <a:p>
            <a:pPr/>
            <a:r>
              <a:rPr sz="1100" b="0">
                <a:solidFill>
                  <a:srgbClr val="282828"/>
                </a:solidFill>
                <a:latin typeface="맑은 고딕"/>
              </a:rPr>
              <a:t>- 응답: [7E][01][04][22][11][0005][00][0005 01 01 00][CRC16][7E]</a:t>
            </a:r>
          </a:p>
          <a:p>
            <a:pPr/>
            <a:r>
              <a:rPr sz="1100" b="0">
                <a:solidFill>
                  <a:srgbClr val="282828"/>
                </a:solidFill>
                <a:latin typeface="맑은 고딕"/>
              </a:rPr>
              <a:t>- 의미: Relay OFF 요청 / 성공 코드 00 / 실제 Relay_State=OFF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6126480"/>
            <a:ext cx="11064240" cy="411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D4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82828"/>
                </a:solidFill>
                <a:latin typeface="맑은 고딕"/>
              </a:rPr>
              <a:t>Control Response에는 성공 여부와 실제 Relay_State를 함께 포함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