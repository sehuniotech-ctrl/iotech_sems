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60844D-09FF-963C-0441-39BCA685E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408030-B86A-6A07-A810-43C46C662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5EF06-691A-87C8-3936-5EFF2382A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7929-193D-4D6D-8369-4A93E59EA45A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D532BF-24C1-41A4-2D83-BBEB3E867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7EC3DF-47CC-1474-2F47-40AACBB6B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D4143-5897-4D76-86A1-51A695879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75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D5267A-878E-2AFF-9B68-1E608CF4C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61CB0A-BCD0-1F71-8B4B-173CEA244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5524EA-CD48-4E21-7BF3-94051D95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7929-193D-4D6D-8369-4A93E59EA45A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B0B792-6BD6-28CC-58B0-269C13E5B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4EC171-13A3-30E1-F1D9-A1191C18A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D4143-5897-4D76-86A1-51A695879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285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829BE-7722-949F-9884-B1FB52194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C6F70E-97D9-E965-1684-3D4D08D5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169D9F-6484-3734-6007-410731019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7929-193D-4D6D-8369-4A93E59EA45A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5DA99-3B6C-D9A3-AE49-C19B4BE77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47C223-9369-A838-4399-EBCD5C3D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D4143-5897-4D76-86A1-51A695879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819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40645-6634-4333-AB16-0CE1E3795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3DE4DE-5742-013E-0DB0-2A9B74476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4B479A-1BEB-DD07-AF68-F461C5575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AF604C-5309-86BE-215A-D666D04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7929-193D-4D6D-8369-4A93E59EA45A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549D09-4B6F-0C05-0AB8-445D1140A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440E64-0F81-DB79-BA87-1A590E70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D4143-5897-4D76-86A1-51A695879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751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867472-9E38-045B-7CEF-329ACB15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07482F-6514-ACA4-BB58-691FC4E14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9B9BB7-FB70-25E5-72A6-CE2ABB4F5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D0ED51-8EF8-71D5-1057-A0EF05869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E4C186-A1F2-CA71-A021-B7336FC27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AD85E3-E12F-E43E-10D5-0B82C97EC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7929-193D-4D6D-8369-4A93E59EA45A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6F6506-5744-8E44-6524-EA321E326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8406FD-D30C-C242-7FEE-ECF235F7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D4143-5897-4D76-86A1-51A695879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642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DD490-19B9-CBB6-FBDF-4757CC5F6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0F35AB-8AFB-44BC-425B-C9A79FAD3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7929-193D-4D6D-8369-4A93E59EA45A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CC3EB0-FC8E-1198-E2E5-CB95FF2C8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4BF5BB-8376-ECBA-6079-3CF2DC404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D4143-5897-4D76-86A1-51A695879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761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D84709-2569-0A22-31F0-B12DDC10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7929-193D-4D6D-8369-4A93E59EA45A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80B3AA-51B0-5B5B-D2E1-97053B058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8D403E-738F-489B-7EE4-4C0E0E9D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D4143-5897-4D76-86A1-51A695879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971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F1B-5DFE-F73B-AFBE-65E427572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98D4EF-F89D-BBD8-C3E9-99D503F51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3FFE77-7CA9-1A3F-0F0F-9E546BAC9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828259-F612-4DE2-683B-D71F74B3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7929-193D-4D6D-8369-4A93E59EA45A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2E2A10-D6F2-F3F6-5CC0-0842B59C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128C45-B5B5-AAD2-A59A-2E9DAD7AE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D4143-5897-4D76-86A1-51A695879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30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8B248-206C-1E46-B8F5-7F7363E05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AE28A3-88E4-31E9-9462-14506C0C58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2BD666-5557-5C88-EBEE-969B96919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73BDB8-D1E1-0DBC-2AF2-BFF5E406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7929-193D-4D6D-8369-4A93E59EA45A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99C2CF-244B-BD91-39A9-AB7DD7FCE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EE78B2-0294-24DD-24E3-8B39F46CD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D4143-5897-4D76-86A1-51A695879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65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CFDC3-C87B-B8DC-14F6-54A0DEEFE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9550CD-A027-DB5E-DAF9-995819DAC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3D2A0E-CC37-488D-1F43-0855671C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7929-193D-4D6D-8369-4A93E59EA45A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C27C7C-9B8F-60E4-51A9-A575CBABF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618ABC-8E8E-134A-2073-A6354696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D4143-5897-4D76-86A1-51A695879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54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7ADE4A-AEC9-46C4-039A-18CDCC95FA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DFD8BE-F0CC-1FED-B173-97F2E301B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114F12-5B35-CE83-5F58-6942403F8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7929-193D-4D6D-8369-4A93E59EA45A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DEE3A9-87C3-EBE6-B9E0-3EF7C7B0E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C1A11F-CD57-1AC2-7955-07046F720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D4143-5897-4D76-86A1-51A695879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027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E62400-FE54-D787-BF71-92B13D419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B43CFC-9C8E-627C-8FE5-8B302E358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41E88E-16C8-582A-B099-813BE2761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37929-193D-4D6D-8369-4A93E59EA45A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C8113B-7164-45E6-AB69-80B0ACEB52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E09BE9-BC99-F86E-50EF-50C3DDA40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D4143-5897-4D76-86A1-51A695879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82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22ED069-03F4-0B7D-8AFB-D5CA6B007225}"/>
              </a:ext>
            </a:extLst>
          </p:cNvPr>
          <p:cNvSpPr/>
          <p:nvPr/>
        </p:nvSpPr>
        <p:spPr>
          <a:xfrm>
            <a:off x="0" y="0"/>
            <a:ext cx="12192000" cy="330200"/>
          </a:xfrm>
          <a:prstGeom prst="rect">
            <a:avLst/>
          </a:prstGeom>
          <a:solidFill>
            <a:srgbClr val="1C31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DCC2F2-87F1-6E40-3004-F227D1440F19}"/>
              </a:ext>
            </a:extLst>
          </p:cNvPr>
          <p:cNvSpPr txBox="1"/>
          <p:nvPr/>
        </p:nvSpPr>
        <p:spPr>
          <a:xfrm>
            <a:off x="304800" y="3048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지선차단기 </a:t>
            </a:r>
            <a:r>
              <a:rPr lang="en-US" altLang="ko-KR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DCU </a:t>
            </a:r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프로토콜 정리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6FFBC-22C9-FC3A-DD13-C8A836125135}"/>
              </a:ext>
            </a:extLst>
          </p:cNvPr>
          <p:cNvSpPr txBox="1"/>
          <p:nvPr/>
        </p:nvSpPr>
        <p:spPr>
          <a:xfrm>
            <a:off x="330200" y="685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프레임 형식 및 기본 구조 </a:t>
            </a:r>
            <a:r>
              <a:rPr lang="en-US" altLang="ko-KR" sz="100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2026-04-14</a:t>
            </a:r>
            <a:endParaRPr lang="ko-KR" altLang="en-US" sz="100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20B0839-B21E-6718-1115-BAF847560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449561"/>
              </p:ext>
            </p:extLst>
          </p:nvPr>
        </p:nvGraphicFramePr>
        <p:xfrm>
          <a:off x="381000" y="1142999"/>
          <a:ext cx="1117599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333">
                  <a:extLst>
                    <a:ext uri="{9D8B030D-6E8A-4147-A177-3AD203B41FA5}">
                      <a16:colId xmlns:a16="http://schemas.microsoft.com/office/drawing/2014/main" val="562491061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2802167296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163910531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필드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크기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2751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STX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byte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프레임 시작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14296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byte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프로토콜 버전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159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MSG_TYPE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byte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메시지 종류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1297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byte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</a:t>
                      </a:r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응답 식별 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966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SL_ID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byte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 식별자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27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LEN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byte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Payload </a:t>
                      </a:r>
                      <a:r>
                        <a:rPr lang="ko-KR" altLang="en-US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길이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3315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PAYLOAD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byte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데이터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4566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CRC16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byte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프레임 오류 검출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783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ETX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byte</a:t>
                      </a:r>
                      <a:endParaRPr lang="ko-KR" altLang="en-US" sz="12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프레임 종료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3440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E68538C-C9A7-71CE-FD21-093623F4973D}"/>
              </a:ext>
            </a:extLst>
          </p:cNvPr>
          <p:cNvSpPr txBox="1"/>
          <p:nvPr/>
        </p:nvSpPr>
        <p:spPr>
          <a:xfrm>
            <a:off x="508000" y="5969000"/>
            <a:ext cx="1092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000">
                <a:solidFill>
                  <a:srgbClr val="443322"/>
                </a:solidFill>
                <a:latin typeface="Consolas" panose="020B0609020204030204" pitchFamily="49" charset="0"/>
              </a:rPr>
              <a:t>[7E][VER][MSG_TYPE][SEQ][SL_ID][LEN][PAYLOAD][CRC16][7E]</a:t>
            </a:r>
            <a:endParaRPr lang="ko-KR" altLang="en-US" sz="2000">
              <a:solidFill>
                <a:srgbClr val="44332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54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1C2DE78-872D-231F-D7E0-39E76EDE1FE3}"/>
              </a:ext>
            </a:extLst>
          </p:cNvPr>
          <p:cNvSpPr/>
          <p:nvPr/>
        </p:nvSpPr>
        <p:spPr>
          <a:xfrm>
            <a:off x="0" y="0"/>
            <a:ext cx="12192000" cy="330200"/>
          </a:xfrm>
          <a:prstGeom prst="rect">
            <a:avLst/>
          </a:prstGeom>
          <a:solidFill>
            <a:srgbClr val="1C31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866417-93B6-B1AC-1A24-6D0AD31C5FAA}"/>
              </a:ext>
            </a:extLst>
          </p:cNvPr>
          <p:cNvSpPr txBox="1"/>
          <p:nvPr/>
        </p:nvSpPr>
        <p:spPr>
          <a:xfrm>
            <a:off x="304800" y="3048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종류 및 </a:t>
            </a:r>
            <a:r>
              <a:rPr lang="en-US" altLang="ko-KR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Payload </a:t>
            </a:r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2815BC-1A88-E921-9CFF-18A46C592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704147"/>
              </p:ext>
            </p:extLst>
          </p:nvPr>
        </p:nvGraphicFramePr>
        <p:xfrm>
          <a:off x="317500" y="1079500"/>
          <a:ext cx="5461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3503487645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301669509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4286056724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889919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 Request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조회 요청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2351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 Response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조회 응답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9147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 Request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릴레이 제어 요청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59313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0x04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 Response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릴레이 제어 응답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1545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0x05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Event Report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향후 확장용 이벤트 보고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3083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0x06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ACK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 수신 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92773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0x07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NACK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또는 거부 응답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3190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EE3A006-A286-F2A4-68CD-FCFE35D6F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270937"/>
              </p:ext>
            </p:extLst>
          </p:nvPr>
        </p:nvGraphicFramePr>
        <p:xfrm>
          <a:off x="6096000" y="1079500"/>
          <a:ext cx="533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369000184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85336374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42009462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필드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크기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5834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ITEM_ID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byte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항목 </a:t>
                      </a:r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72916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byte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타입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3512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ITEM_LEN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byte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길이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4989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byte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1530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90A97A9-D375-6973-9B83-AF30222A7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548494"/>
              </p:ext>
            </p:extLst>
          </p:nvPr>
        </p:nvGraphicFramePr>
        <p:xfrm>
          <a:off x="6096000" y="3810000"/>
          <a:ext cx="3175000" cy="234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4026779788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194076850"/>
                    </a:ext>
                  </a:extLst>
                </a:gridCol>
              </a:tblGrid>
              <a:tr h="335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  <a:endParaRPr lang="ko-KR" altLang="en-US" sz="1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464356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uint8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858326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uint16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670892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uint32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794130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0x04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int32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380220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0x05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 field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630471"/>
                  </a:ext>
                </a:extLst>
              </a:tr>
              <a:tr h="335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0x06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</a:t>
                      </a:r>
                      <a:endParaRPr lang="ko-KR" altLang="en-US" sz="11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4762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D074590-CF32-DF60-AFCA-B51200811556}"/>
              </a:ext>
            </a:extLst>
          </p:cNvPr>
          <p:cNvSpPr txBox="1"/>
          <p:nvPr/>
        </p:nvSpPr>
        <p:spPr>
          <a:xfrm>
            <a:off x="9652000" y="3937000"/>
            <a:ext cx="1905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>
                <a:ea typeface="맑은 고딕" panose="020B0503020000020004" pitchFamily="50" charset="-127"/>
              </a:rPr>
              <a:t>전송 규칙</a:t>
            </a:r>
          </a:p>
          <a:p>
            <a:r>
              <a:rPr lang="en-US" altLang="ko-KR" sz="1200">
                <a:ea typeface="맑은 고딕" panose="020B0503020000020004" pitchFamily="50" charset="-127"/>
              </a:rPr>
              <a:t>- 1</a:t>
            </a:r>
            <a:r>
              <a:rPr lang="ko-KR" altLang="en-US" sz="1200">
                <a:ea typeface="맑은 고딕" panose="020B0503020000020004" pitchFamily="50" charset="-127"/>
              </a:rPr>
              <a:t>프레임 최대 </a:t>
            </a:r>
            <a:r>
              <a:rPr lang="en-US" altLang="ko-KR" sz="1200">
                <a:ea typeface="맑은 고딕" panose="020B0503020000020004" pitchFamily="50" charset="-127"/>
              </a:rPr>
              <a:t>3</a:t>
            </a:r>
            <a:r>
              <a:rPr lang="ko-KR" altLang="en-US" sz="1200">
                <a:ea typeface="맑은 고딕" panose="020B0503020000020004" pitchFamily="50" charset="-127"/>
              </a:rPr>
              <a:t>개 항목</a:t>
            </a:r>
          </a:p>
          <a:p>
            <a:r>
              <a:rPr lang="en-US" altLang="ko-KR" sz="1200">
                <a:ea typeface="맑은 고딕" panose="020B0503020000020004" pitchFamily="50" charset="-127"/>
              </a:rPr>
              <a:t>- </a:t>
            </a:r>
            <a:r>
              <a:rPr lang="ko-KR" altLang="en-US" sz="1200">
                <a:ea typeface="맑은 고딕" panose="020B0503020000020004" pitchFamily="50" charset="-127"/>
              </a:rPr>
              <a:t>남는 슬롯은 </a:t>
            </a:r>
            <a:r>
              <a:rPr lang="en-US" altLang="ko-KR" sz="1200">
                <a:ea typeface="맑은 고딕" panose="020B0503020000020004" pitchFamily="50" charset="-127"/>
              </a:rPr>
              <a:t>data_empty(0x0000) </a:t>
            </a:r>
            <a:r>
              <a:rPr lang="ko-KR" altLang="en-US" sz="1200">
                <a:ea typeface="맑은 고딕" panose="020B0503020000020004" pitchFamily="50" charset="-127"/>
              </a:rPr>
              <a:t>패딩</a:t>
            </a:r>
          </a:p>
          <a:p>
            <a:r>
              <a:rPr lang="en-US" altLang="ko-KR" sz="1200">
                <a:ea typeface="맑은 고딕" panose="020B0503020000020004" pitchFamily="50" charset="-127"/>
              </a:rPr>
              <a:t>- 4</a:t>
            </a:r>
            <a:r>
              <a:rPr lang="ko-KR" altLang="en-US" sz="1200">
                <a:ea typeface="맑은 고딕" panose="020B0503020000020004" pitchFamily="50" charset="-127"/>
              </a:rPr>
              <a:t>개 항목이면 </a:t>
            </a:r>
            <a:r>
              <a:rPr lang="en-US" altLang="ko-KR" sz="1200">
                <a:ea typeface="맑은 고딕" panose="020B0503020000020004" pitchFamily="50" charset="-127"/>
              </a:rPr>
              <a:t>3</a:t>
            </a:r>
            <a:r>
              <a:rPr lang="ko-KR" altLang="en-US" sz="1200">
                <a:ea typeface="맑은 고딕" panose="020B0503020000020004" pitchFamily="50" charset="-127"/>
              </a:rPr>
              <a:t>개 </a:t>
            </a:r>
            <a:r>
              <a:rPr lang="en-US" altLang="ko-KR" sz="1200">
                <a:ea typeface="맑은 고딕" panose="020B0503020000020004" pitchFamily="50" charset="-127"/>
              </a:rPr>
              <a:t>/ 1</a:t>
            </a:r>
            <a:r>
              <a:rPr lang="ko-KR" altLang="en-US" sz="1200">
                <a:ea typeface="맑은 고딕" panose="020B0503020000020004" pitchFamily="50" charset="-127"/>
              </a:rPr>
              <a:t>개 </a:t>
            </a:r>
            <a:r>
              <a:rPr lang="en-US" altLang="ko-KR" sz="1200">
                <a:ea typeface="맑은 고딕" panose="020B0503020000020004" pitchFamily="50" charset="-127"/>
              </a:rPr>
              <a:t>+ 0x0000 + 0x0000</a:t>
            </a:r>
            <a:endParaRPr lang="ko-KR" altLang="en-US" sz="120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0090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421CA93-2602-083F-CAEC-A6177526E3D2}"/>
              </a:ext>
            </a:extLst>
          </p:cNvPr>
          <p:cNvSpPr/>
          <p:nvPr/>
        </p:nvSpPr>
        <p:spPr>
          <a:xfrm>
            <a:off x="0" y="0"/>
            <a:ext cx="12192000" cy="330200"/>
          </a:xfrm>
          <a:prstGeom prst="rect">
            <a:avLst/>
          </a:prstGeom>
          <a:solidFill>
            <a:srgbClr val="1C31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BC494-5427-572F-13E3-C69C5885ACE6}"/>
              </a:ext>
            </a:extLst>
          </p:cNvPr>
          <p:cNvSpPr txBox="1"/>
          <p:nvPr/>
        </p:nvSpPr>
        <p:spPr>
          <a:xfrm>
            <a:off x="304800" y="3048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항목 정의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5451CA8-3D31-73A9-B429-95EF31473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155939"/>
              </p:ext>
            </p:extLst>
          </p:nvPr>
        </p:nvGraphicFramePr>
        <p:xfrm>
          <a:off x="254000" y="1079500"/>
          <a:ext cx="5715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125776871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37025868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11993050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58903429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78009454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649917576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 </a:t>
                      </a:r>
                      <a:r>
                        <a:rPr lang="en-US" altLang="ko-KR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 여부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60407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0x0000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data_empty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uint32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 슬롯 채움용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65993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0x0001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SL_ID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uint8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장치 식별자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95469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0x0002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Voltage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uint32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 V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실효 전압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31888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0x0003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Current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uint32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 A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실효 전류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81917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0x0004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Energy_Acc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uint32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누적 전력량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34674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0x0005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Relay_State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uint8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릴레이 현재 상태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47416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0x0006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Alarm_Code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uint16 bit field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상태 코드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17570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0178D66-F6DE-9E99-C912-B04C2CF9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343857"/>
              </p:ext>
            </p:extLst>
          </p:nvPr>
        </p:nvGraphicFramePr>
        <p:xfrm>
          <a:off x="6223000" y="1079500"/>
          <a:ext cx="5080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48896169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7284618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9459682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0844007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0574136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 </a:t>
                      </a:r>
                      <a:r>
                        <a:rPr lang="en-US" altLang="ko-KR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 여부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84579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0x1001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Read_Item_List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조회할 항목 목록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529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0x1002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Relay_Command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uint8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릴레이 </a:t>
                      </a:r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ON/OFF </a:t>
                      </a:r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3372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0x1003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Control_Reason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uint8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 사유 코드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0744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0x1004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Control_Token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uint32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 명령 검증값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5145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942A817-E4F8-8CDE-AC41-38469E2ED7CC}"/>
              </a:ext>
            </a:extLst>
          </p:cNvPr>
          <p:cNvSpPr txBox="1"/>
          <p:nvPr/>
        </p:nvSpPr>
        <p:spPr>
          <a:xfrm>
            <a:off x="6223000" y="4191000"/>
            <a:ext cx="4953000" cy="10926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300">
                <a:ea typeface="맑은 고딕" panose="020B0503020000020004" pitchFamily="50" charset="-127"/>
              </a:rPr>
              <a:t>데이터 스케일</a:t>
            </a:r>
          </a:p>
          <a:p>
            <a:r>
              <a:rPr lang="en-US" altLang="ko-KR" sz="1300">
                <a:ea typeface="맑은 고딕" panose="020B0503020000020004" pitchFamily="50" charset="-127"/>
              </a:rPr>
              <a:t>- Voltage = raw / 10</a:t>
            </a:r>
          </a:p>
          <a:p>
            <a:r>
              <a:rPr lang="en-US" altLang="ko-KR" sz="1300">
                <a:ea typeface="맑은 고딕" panose="020B0503020000020004" pitchFamily="50" charset="-127"/>
              </a:rPr>
              <a:t>- Current = raw / 100</a:t>
            </a:r>
          </a:p>
          <a:p>
            <a:r>
              <a:rPr lang="en-US" altLang="ko-KR" sz="1300">
                <a:ea typeface="맑은 고딕" panose="020B0503020000020004" pitchFamily="50" charset="-127"/>
              </a:rPr>
              <a:t>- Energy_Acc = raw Wh</a:t>
            </a:r>
          </a:p>
          <a:p>
            <a:r>
              <a:rPr lang="en-US" altLang="ko-KR" sz="1300">
                <a:ea typeface="맑은 고딕" panose="020B0503020000020004" pitchFamily="50" charset="-127"/>
              </a:rPr>
              <a:t>- </a:t>
            </a:r>
            <a:r>
              <a:rPr lang="ko-KR" altLang="en-US" sz="1300">
                <a:ea typeface="맑은 고딕" panose="020B0503020000020004" pitchFamily="50" charset="-127"/>
              </a:rPr>
              <a:t>전압</a:t>
            </a:r>
            <a:r>
              <a:rPr lang="en-US" altLang="ko-KR" sz="1300">
                <a:ea typeface="맑은 고딕" panose="020B0503020000020004" pitchFamily="50" charset="-127"/>
              </a:rPr>
              <a:t>, </a:t>
            </a:r>
            <a:r>
              <a:rPr lang="ko-KR" altLang="en-US" sz="1300">
                <a:ea typeface="맑은 고딕" panose="020B0503020000020004" pitchFamily="50" charset="-127"/>
              </a:rPr>
              <a:t>전류</a:t>
            </a:r>
            <a:r>
              <a:rPr lang="en-US" altLang="ko-KR" sz="1300">
                <a:ea typeface="맑은 고딕" panose="020B0503020000020004" pitchFamily="50" charset="-127"/>
              </a:rPr>
              <a:t>, </a:t>
            </a:r>
            <a:r>
              <a:rPr lang="ko-KR" altLang="en-US" sz="1300">
                <a:ea typeface="맑은 고딕" panose="020B0503020000020004" pitchFamily="50" charset="-127"/>
              </a:rPr>
              <a:t>전력량은 </a:t>
            </a:r>
            <a:r>
              <a:rPr lang="en-US" altLang="ko-KR" sz="1300">
                <a:ea typeface="맑은 고딕" panose="020B0503020000020004" pitchFamily="50" charset="-127"/>
              </a:rPr>
              <a:t>4 byte </a:t>
            </a:r>
            <a:r>
              <a:rPr lang="ko-KR" altLang="en-US" sz="1300">
                <a:ea typeface="맑은 고딕" panose="020B0503020000020004" pitchFamily="50" charset="-127"/>
              </a:rPr>
              <a:t>통일</a:t>
            </a:r>
          </a:p>
        </p:txBody>
      </p:sp>
    </p:spTree>
    <p:extLst>
      <p:ext uri="{BB962C8B-B14F-4D97-AF65-F5344CB8AC3E}">
        <p14:creationId xmlns:p14="http://schemas.microsoft.com/office/powerpoint/2010/main" val="68469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43103E0-93CD-6D87-B90A-48578989DD58}"/>
              </a:ext>
            </a:extLst>
          </p:cNvPr>
          <p:cNvSpPr/>
          <p:nvPr/>
        </p:nvSpPr>
        <p:spPr>
          <a:xfrm>
            <a:off x="0" y="0"/>
            <a:ext cx="12192000" cy="330200"/>
          </a:xfrm>
          <a:prstGeom prst="rect">
            <a:avLst/>
          </a:prstGeom>
          <a:solidFill>
            <a:srgbClr val="1C31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7DC743-BFC7-C2F4-015F-EACF1D549442}"/>
              </a:ext>
            </a:extLst>
          </p:cNvPr>
          <p:cNvSpPr txBox="1"/>
          <p:nvPr/>
        </p:nvSpPr>
        <p:spPr>
          <a:xfrm>
            <a:off x="304800" y="3048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상태값</a:t>
            </a:r>
            <a:r>
              <a:rPr lang="en-US" altLang="ko-KR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코드값</a:t>
            </a:r>
            <a:r>
              <a:rPr lang="en-US" altLang="ko-KR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통신 정책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F5B3C79-8123-999F-C173-B5B8A1A6E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106027"/>
              </p:ext>
            </p:extLst>
          </p:nvPr>
        </p:nvGraphicFramePr>
        <p:xfrm>
          <a:off x="254000" y="1079500"/>
          <a:ext cx="3048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30702129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4949349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Relay_State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49458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 / </a:t>
                      </a:r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74491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 / </a:t>
                      </a:r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927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0x02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전환 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34659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또는 판별 불가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76566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CBB611B-7E31-AAD2-8E63-EE47C16C9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821959"/>
              </p:ext>
            </p:extLst>
          </p:nvPr>
        </p:nvGraphicFramePr>
        <p:xfrm>
          <a:off x="3556000" y="1079500"/>
          <a:ext cx="330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97208378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169998333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비트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72191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bit0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과전류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60337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bit1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과전압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93884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bit2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저전압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05314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bit3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릴레이 구동 실패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56628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bit4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측정칩 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47280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bit5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내부 메모리 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06891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bit6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 또는 측정값 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90281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bit7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16722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bit8~15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향후 확장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00497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34B4FAE-4042-3E67-7D78-42F34DD55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975256"/>
              </p:ext>
            </p:extLst>
          </p:nvPr>
        </p:nvGraphicFramePr>
        <p:xfrm>
          <a:off x="7112000" y="1079500"/>
          <a:ext cx="4191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542727057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532942547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493907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0x00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712798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 수 없는 메시지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434714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0x02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지원하지 않는 항목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105028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0x03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길이 오류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842658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0x04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CRC </a:t>
                      </a:r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445504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0x05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잘못된 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57899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0x06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 거부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102483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0x07</a:t>
                      </a:r>
                      <a:endParaRPr lang="ko-KR" altLang="en-US" sz="1000" b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내부 처리 실패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25243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F55508-522F-A7B1-8DA9-21248A99FE56}"/>
              </a:ext>
            </a:extLst>
          </p:cNvPr>
          <p:cNvSpPr txBox="1"/>
          <p:nvPr/>
        </p:nvSpPr>
        <p:spPr>
          <a:xfrm>
            <a:off x="254000" y="4699000"/>
            <a:ext cx="11049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>
                <a:ea typeface="맑은 고딕" panose="020B0503020000020004" pitchFamily="50" charset="-127"/>
              </a:rPr>
              <a:t>통신 정책</a:t>
            </a:r>
          </a:p>
          <a:p>
            <a:r>
              <a:rPr lang="en-US" altLang="ko-KR" sz="1200">
                <a:ea typeface="맑은 고딕" panose="020B0503020000020004" pitchFamily="50" charset="-127"/>
              </a:rPr>
              <a:t>- </a:t>
            </a:r>
            <a:r>
              <a:rPr lang="ko-KR" altLang="en-US" sz="1200">
                <a:ea typeface="맑은 고딕" panose="020B0503020000020004" pitchFamily="50" charset="-127"/>
              </a:rPr>
              <a:t>응답 대기 또는 비동기 수신 방식 사용</a:t>
            </a:r>
          </a:p>
          <a:p>
            <a:r>
              <a:rPr lang="en-US" altLang="ko-KR" sz="1200">
                <a:ea typeface="맑은 고딕" panose="020B0503020000020004" pitchFamily="50" charset="-127"/>
              </a:rPr>
              <a:t>- </a:t>
            </a:r>
            <a:r>
              <a:rPr lang="ko-KR" altLang="en-US" sz="1200">
                <a:ea typeface="맑은 고딕" panose="020B0503020000020004" pitchFamily="50" charset="-127"/>
              </a:rPr>
              <a:t>응답 </a:t>
            </a:r>
            <a:r>
              <a:rPr lang="en-US" altLang="ko-KR" sz="1200">
                <a:ea typeface="맑은 고딕" panose="020B0503020000020004" pitchFamily="50" charset="-127"/>
              </a:rPr>
              <a:t>timeout: 1</a:t>
            </a:r>
            <a:r>
              <a:rPr lang="ko-KR" altLang="en-US" sz="1200">
                <a:ea typeface="맑은 고딕" panose="020B0503020000020004" pitchFamily="50" charset="-127"/>
              </a:rPr>
              <a:t>초</a:t>
            </a:r>
          </a:p>
          <a:p>
            <a:r>
              <a:rPr lang="en-US" altLang="ko-KR" sz="1200">
                <a:ea typeface="맑은 고딕" panose="020B0503020000020004" pitchFamily="50" charset="-127"/>
              </a:rPr>
              <a:t>- </a:t>
            </a:r>
            <a:r>
              <a:rPr lang="ko-KR" altLang="en-US" sz="1200">
                <a:ea typeface="맑은 고딕" panose="020B0503020000020004" pitchFamily="50" charset="-127"/>
              </a:rPr>
              <a:t>응답 미수신 시 최대 </a:t>
            </a:r>
            <a:r>
              <a:rPr lang="en-US" altLang="ko-KR" sz="1200">
                <a:ea typeface="맑은 고딕" panose="020B0503020000020004" pitchFamily="50" charset="-127"/>
              </a:rPr>
              <a:t>3</a:t>
            </a:r>
            <a:r>
              <a:rPr lang="ko-KR" altLang="en-US" sz="1200">
                <a:ea typeface="맑은 고딕" panose="020B0503020000020004" pitchFamily="50" charset="-127"/>
              </a:rPr>
              <a:t>회 재전송</a:t>
            </a:r>
          </a:p>
          <a:p>
            <a:r>
              <a:rPr lang="en-US" altLang="ko-KR" sz="1200">
                <a:ea typeface="맑은 고딕" panose="020B0503020000020004" pitchFamily="50" charset="-127"/>
              </a:rPr>
              <a:t>- 3</a:t>
            </a:r>
            <a:r>
              <a:rPr lang="ko-KR" altLang="en-US" sz="1200">
                <a:ea typeface="맑은 고딕" panose="020B0503020000020004" pitchFamily="50" charset="-127"/>
              </a:rPr>
              <a:t>회 </a:t>
            </a:r>
            <a:r>
              <a:rPr lang="en-US" altLang="ko-KR" sz="1200">
                <a:ea typeface="맑은 고딕" panose="020B0503020000020004" pitchFamily="50" charset="-127"/>
              </a:rPr>
              <a:t>response </a:t>
            </a:r>
            <a:r>
              <a:rPr lang="ko-KR" altLang="en-US" sz="1200">
                <a:ea typeface="맑은 고딕" panose="020B0503020000020004" pitchFamily="50" charset="-127"/>
              </a:rPr>
              <a:t>수신 실패 시 서버 </a:t>
            </a:r>
            <a:r>
              <a:rPr lang="en-US" altLang="ko-KR" sz="1200">
                <a:ea typeface="맑은 고딕" panose="020B0503020000020004" pitchFamily="50" charset="-127"/>
              </a:rPr>
              <a:t>event </a:t>
            </a:r>
            <a:r>
              <a:rPr lang="ko-KR" altLang="en-US" sz="1200">
                <a:ea typeface="맑은 고딕" panose="020B0503020000020004" pitchFamily="50" charset="-127"/>
              </a:rPr>
              <a:t>알림</a:t>
            </a:r>
          </a:p>
          <a:p>
            <a:r>
              <a:rPr lang="en-US" altLang="ko-KR" sz="1200">
                <a:ea typeface="맑은 고딕" panose="020B0503020000020004" pitchFamily="50" charset="-127"/>
              </a:rPr>
              <a:t>- SEQ</a:t>
            </a:r>
            <a:r>
              <a:rPr lang="ko-KR" altLang="en-US" sz="1200">
                <a:ea typeface="맑은 고딕" panose="020B0503020000020004" pitchFamily="50" charset="-127"/>
              </a:rPr>
              <a:t>는 </a:t>
            </a:r>
            <a:r>
              <a:rPr lang="en-US" altLang="ko-KR" sz="1200">
                <a:ea typeface="맑은 고딕" panose="020B0503020000020004" pitchFamily="50" charset="-127"/>
              </a:rPr>
              <a:t>1 byte </a:t>
            </a:r>
            <a:r>
              <a:rPr lang="ko-KR" altLang="en-US" sz="1200">
                <a:ea typeface="맑은 고딕" panose="020B0503020000020004" pitchFamily="50" charset="-127"/>
              </a:rPr>
              <a:t>순환값</a:t>
            </a:r>
            <a:r>
              <a:rPr lang="en-US" altLang="ko-KR" sz="1200">
                <a:ea typeface="맑은 고딕" panose="020B0503020000020004" pitchFamily="50" charset="-127"/>
              </a:rPr>
              <a:t>(0x00 ~ 0xFF) </a:t>
            </a:r>
            <a:r>
              <a:rPr lang="ko-KR" altLang="en-US" sz="1200">
                <a:ea typeface="맑은 고딕" panose="020B0503020000020004" pitchFamily="50" charset="-127"/>
              </a:rPr>
              <a:t>사용</a:t>
            </a:r>
          </a:p>
        </p:txBody>
      </p:sp>
    </p:spTree>
    <p:extLst>
      <p:ext uri="{BB962C8B-B14F-4D97-AF65-F5344CB8AC3E}">
        <p14:creationId xmlns:p14="http://schemas.microsoft.com/office/powerpoint/2010/main" val="753592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63C6F9E-DC50-7E86-03B2-C2CE60211D08}"/>
              </a:ext>
            </a:extLst>
          </p:cNvPr>
          <p:cNvSpPr/>
          <p:nvPr/>
        </p:nvSpPr>
        <p:spPr>
          <a:xfrm>
            <a:off x="0" y="0"/>
            <a:ext cx="12192000" cy="330200"/>
          </a:xfrm>
          <a:prstGeom prst="rect">
            <a:avLst/>
          </a:prstGeom>
          <a:solidFill>
            <a:srgbClr val="1C31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94F9B-E1D6-1294-53BF-B01331BA56A7}"/>
              </a:ext>
            </a:extLst>
          </p:cNvPr>
          <p:cNvSpPr txBox="1"/>
          <p:nvPr/>
        </p:nvSpPr>
        <p:spPr>
          <a:xfrm>
            <a:off x="304800" y="3048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 </a:t>
            </a:r>
            <a:r>
              <a:rPr lang="en-US" altLang="ko-KR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제어 예시 및 임계값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D4862D-CAC4-8093-84B1-BD8C3CEFBE70}"/>
              </a:ext>
            </a:extLst>
          </p:cNvPr>
          <p:cNvSpPr txBox="1"/>
          <p:nvPr/>
        </p:nvSpPr>
        <p:spPr>
          <a:xfrm>
            <a:off x="381000" y="1143000"/>
            <a:ext cx="5207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400">
                <a:ea typeface="맑은 고딕" panose="020B0503020000020004" pitchFamily="50" charset="-127"/>
              </a:rPr>
              <a:t>조회 요청 예시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[7E][01][01][21][SL_ID][0006][0002 0003 0005][CRC][7E]</a:t>
            </a:r>
          </a:p>
          <a:p>
            <a:r>
              <a:rPr lang="ko-KR" altLang="en-US" sz="1400">
                <a:ea typeface="맑은 고딕" panose="020B0503020000020004" pitchFamily="50" charset="-127"/>
              </a:rPr>
              <a:t>의미</a:t>
            </a:r>
            <a:r>
              <a:rPr lang="en-US" altLang="ko-KR" sz="1400">
                <a:ea typeface="맑은 고딕" panose="020B0503020000020004" pitchFamily="50" charset="-127"/>
              </a:rPr>
              <a:t>: Voltage, Current, Relay_State </a:t>
            </a:r>
            <a:r>
              <a:rPr lang="ko-KR" altLang="en-US" sz="1400"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42513-D8B6-E0D0-5B8C-4292FB7B7436}"/>
              </a:ext>
            </a:extLst>
          </p:cNvPr>
          <p:cNvSpPr txBox="1"/>
          <p:nvPr/>
        </p:nvSpPr>
        <p:spPr>
          <a:xfrm>
            <a:off x="5969000" y="1143000"/>
            <a:ext cx="5334000" cy="116955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400">
                <a:ea typeface="맑은 고딕" panose="020B0503020000020004" pitchFamily="50" charset="-127"/>
              </a:rPr>
              <a:t>조회 응답 예시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[7E][01][02][21][SL_ID][0011]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[0002][03][04][00 00 08 BA]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[0003][03][04][00 00 04 1A]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[0005][01][01][01][CRC][7E]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29BB6-CF5F-7E00-24FF-00C67B44F1B5}"/>
              </a:ext>
            </a:extLst>
          </p:cNvPr>
          <p:cNvSpPr txBox="1"/>
          <p:nvPr/>
        </p:nvSpPr>
        <p:spPr>
          <a:xfrm>
            <a:off x="381000" y="3429000"/>
            <a:ext cx="5207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400">
                <a:ea typeface="맑은 고딕" panose="020B0503020000020004" pitchFamily="50" charset="-127"/>
              </a:rPr>
              <a:t>제어 요청 예시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[7E][01][03][22][SL_ID][0002][1002 00][CRC][7E]</a:t>
            </a:r>
          </a:p>
          <a:p>
            <a:r>
              <a:rPr lang="ko-KR" altLang="en-US" sz="1400">
                <a:ea typeface="맑은 고딕" panose="020B0503020000020004" pitchFamily="50" charset="-127"/>
              </a:rPr>
              <a:t>의미</a:t>
            </a:r>
            <a:r>
              <a:rPr lang="en-US" altLang="ko-KR" sz="1400"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ea typeface="맑은 고딕" panose="020B0503020000020004" pitchFamily="50" charset="-127"/>
              </a:rPr>
              <a:t>릴레이 </a:t>
            </a:r>
            <a:r>
              <a:rPr lang="en-US" altLang="ko-KR" sz="1400">
                <a:ea typeface="맑은 고딕" panose="020B0503020000020004" pitchFamily="50" charset="-127"/>
              </a:rPr>
              <a:t>OFF </a:t>
            </a:r>
            <a:r>
              <a:rPr lang="ko-KR" altLang="en-US" sz="1400">
                <a:ea typeface="맑은 고딕" panose="020B0503020000020004" pitchFamily="50" charset="-127"/>
              </a:rPr>
              <a:t>제어 요청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CCF201-1044-B39B-D1E2-AFAEB5CE3E6B}"/>
              </a:ext>
            </a:extLst>
          </p:cNvPr>
          <p:cNvSpPr txBox="1"/>
          <p:nvPr/>
        </p:nvSpPr>
        <p:spPr>
          <a:xfrm>
            <a:off x="5969000" y="3429000"/>
            <a:ext cx="5334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400">
                <a:ea typeface="맑은 고딕" panose="020B0503020000020004" pitchFamily="50" charset="-127"/>
              </a:rPr>
              <a:t>제어 응답 예시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[7E][01][04][22][SL_ID][0004][00][0005 01 00][CRC][7E]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00 = </a:t>
            </a:r>
            <a:r>
              <a:rPr lang="ko-KR" altLang="en-US" sz="1400">
                <a:ea typeface="맑은 고딕" panose="020B0503020000020004" pitchFamily="50" charset="-127"/>
              </a:rPr>
              <a:t>성공</a:t>
            </a:r>
            <a:r>
              <a:rPr lang="en-US" altLang="ko-KR" sz="1400">
                <a:ea typeface="맑은 고딕" panose="020B0503020000020004" pitchFamily="50" charset="-127"/>
              </a:rPr>
              <a:t>, Relay_State = 00 = </a:t>
            </a:r>
            <a:r>
              <a:rPr lang="ko-KR" altLang="en-US" sz="1400">
                <a:ea typeface="맑은 고딕" panose="020B0503020000020004" pitchFamily="50" charset="-127"/>
              </a:rPr>
              <a:t>실제 </a:t>
            </a:r>
            <a:r>
              <a:rPr lang="en-US" altLang="ko-KR" sz="1400">
                <a:ea typeface="맑은 고딕" panose="020B0503020000020004" pitchFamily="50" charset="-127"/>
              </a:rPr>
              <a:t>OFF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F6CE6A-25D8-F8BD-66E3-F96D30D040EB}"/>
              </a:ext>
            </a:extLst>
          </p:cNvPr>
          <p:cNvSpPr txBox="1"/>
          <p:nvPr/>
        </p:nvSpPr>
        <p:spPr>
          <a:xfrm>
            <a:off x="381000" y="5270500"/>
            <a:ext cx="10922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400">
                <a:ea typeface="맑은 고딕" panose="020B0503020000020004" pitchFamily="50" charset="-127"/>
              </a:rPr>
              <a:t>임계값 정의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- </a:t>
            </a:r>
            <a:r>
              <a:rPr lang="ko-KR" altLang="en-US" sz="1400">
                <a:ea typeface="맑은 고딕" panose="020B0503020000020004" pitchFamily="50" charset="-127"/>
              </a:rPr>
              <a:t>과전압</a:t>
            </a:r>
            <a:r>
              <a:rPr lang="en-US" altLang="ko-KR" sz="1400">
                <a:ea typeface="맑은 고딕" panose="020B0503020000020004" pitchFamily="50" charset="-127"/>
              </a:rPr>
              <a:t>: 220V </a:t>
            </a:r>
            <a:r>
              <a:rPr lang="ko-KR" altLang="en-US" sz="1400">
                <a:ea typeface="맑은 고딕" panose="020B0503020000020004" pitchFamily="50" charset="-127"/>
              </a:rPr>
              <a:t>기준 </a:t>
            </a:r>
            <a:r>
              <a:rPr lang="en-US" altLang="ko-KR" sz="1400">
                <a:ea typeface="맑은 고딕" panose="020B0503020000020004" pitchFamily="50" charset="-127"/>
              </a:rPr>
              <a:t>±10% </a:t>
            </a:r>
            <a:r>
              <a:rPr lang="ko-KR" altLang="en-US" sz="1400">
                <a:ea typeface="맑은 고딕" panose="020B0503020000020004" pitchFamily="50" charset="-127"/>
              </a:rPr>
              <a:t>범위 이탈 </a:t>
            </a:r>
            <a:r>
              <a:rPr lang="en-US" altLang="ko-KR" sz="1400">
                <a:ea typeface="맑은 고딕" panose="020B0503020000020004" pitchFamily="50" charset="-127"/>
              </a:rPr>
              <a:t>(198V </a:t>
            </a:r>
            <a:r>
              <a:rPr lang="ko-KR" altLang="en-US" sz="1400">
                <a:ea typeface="맑은 고딕" panose="020B0503020000020004" pitchFamily="50" charset="-127"/>
              </a:rPr>
              <a:t>미만 또는 </a:t>
            </a:r>
            <a:r>
              <a:rPr lang="en-US" altLang="ko-KR" sz="1400">
                <a:ea typeface="맑은 고딕" panose="020B0503020000020004" pitchFamily="50" charset="-127"/>
              </a:rPr>
              <a:t>242V </a:t>
            </a:r>
            <a:r>
              <a:rPr lang="ko-KR" altLang="en-US" sz="1400">
                <a:ea typeface="맑은 고딕" panose="020B0503020000020004" pitchFamily="50" charset="-127"/>
              </a:rPr>
              <a:t>초과</a:t>
            </a:r>
            <a:r>
              <a:rPr lang="en-US" altLang="ko-KR" sz="1400"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- </a:t>
            </a:r>
            <a:r>
              <a:rPr lang="ko-KR" altLang="en-US" sz="1400">
                <a:ea typeface="맑은 고딕" panose="020B0503020000020004" pitchFamily="50" charset="-127"/>
              </a:rPr>
              <a:t>과전류</a:t>
            </a:r>
            <a:r>
              <a:rPr lang="en-US" altLang="ko-KR" sz="1400">
                <a:ea typeface="맑은 고딕" panose="020B0503020000020004" pitchFamily="50" charset="-127"/>
              </a:rPr>
              <a:t>: N</a:t>
            </a:r>
            <a:r>
              <a:rPr lang="ko-KR" altLang="en-US" sz="1400">
                <a:ea typeface="맑은 고딕" panose="020B0503020000020004" pitchFamily="50" charset="-127"/>
              </a:rPr>
              <a:t>회 측정값의 </a:t>
            </a:r>
            <a:r>
              <a:rPr lang="en-US" altLang="ko-KR" sz="1400">
                <a:ea typeface="맑은 고딕" panose="020B0503020000020004" pitchFamily="50" charset="-127"/>
              </a:rPr>
              <a:t>Max</a:t>
            </a:r>
            <a:r>
              <a:rPr lang="ko-KR" altLang="en-US" sz="1400">
                <a:ea typeface="맑은 고딕" panose="020B0503020000020004" pitchFamily="50" charset="-127"/>
              </a:rPr>
              <a:t>보다 </a:t>
            </a:r>
            <a:r>
              <a:rPr lang="en-US" altLang="ko-KR" sz="1400">
                <a:ea typeface="맑은 고딕" panose="020B0503020000020004" pitchFamily="50" charset="-127"/>
              </a:rPr>
              <a:t>M% </a:t>
            </a:r>
            <a:r>
              <a:rPr lang="ko-KR" altLang="en-US" sz="1400">
                <a:ea typeface="맑은 고딕" panose="020B0503020000020004" pitchFamily="50" charset="-127"/>
              </a:rPr>
              <a:t>높은 경우</a:t>
            </a:r>
          </a:p>
        </p:txBody>
      </p:sp>
    </p:spTree>
    <p:extLst>
      <p:ext uri="{BB962C8B-B14F-4D97-AF65-F5344CB8AC3E}">
        <p14:creationId xmlns:p14="http://schemas.microsoft.com/office/powerpoint/2010/main" val="3856904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701</Words>
  <Application>Microsoft Office PowerPoint</Application>
  <PresentationFormat>A4 용지(210x297mm)</PresentationFormat>
  <Paragraphs>243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세훈 임</dc:creator>
  <cp:lastModifiedBy>세훈 임</cp:lastModifiedBy>
  <cp:revision>1</cp:revision>
  <dcterms:created xsi:type="dcterms:W3CDTF">2026-04-14T06:48:22Z</dcterms:created>
  <dcterms:modified xsi:type="dcterms:W3CDTF">2026-04-14T06:48:22Z</dcterms:modified>
</cp:coreProperties>
</file>